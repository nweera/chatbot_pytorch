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ormorant Garamond Bold Italics" charset="1" panose="00000800000000000000"/>
      <p:regular r:id="rId21"/>
    </p:embeddedFont>
    <p:embeddedFont>
      <p:font typeface="Quicksand" charset="1" panose="00000000000000000000"/>
      <p:regular r:id="rId22"/>
    </p:embeddedFont>
    <p:embeddedFont>
      <p:font typeface="Quicksand Bold"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43764" y="3435349"/>
            <a:ext cx="16229942" cy="1708151"/>
          </a:xfrm>
          <a:prstGeom prst="rect">
            <a:avLst/>
          </a:prstGeom>
        </p:spPr>
        <p:txBody>
          <a:bodyPr anchor="t" rtlCol="false" tIns="0" lIns="0" bIns="0" rIns="0">
            <a:spAutoFit/>
          </a:bodyPr>
          <a:lstStyle/>
          <a:p>
            <a:pPr algn="ctr" marL="0" indent="0" lvl="0">
              <a:lnSpc>
                <a:spcPts val="13999"/>
              </a:lnSpc>
              <a:spcBef>
                <a:spcPct val="0"/>
              </a:spcBef>
            </a:pPr>
            <a:r>
              <a:rPr lang="en-US" b="true" sz="9999" i="true">
                <a:solidFill>
                  <a:srgbClr val="0F4662"/>
                </a:solidFill>
                <a:latin typeface="Cormorant Garamond Bold Italics"/>
                <a:ea typeface="Cormorant Garamond Bold Italics"/>
                <a:cs typeface="Cormorant Garamond Bold Italics"/>
                <a:sym typeface="Cormorant Garamond Bold Italics"/>
              </a:rPr>
              <a:t>AI Chatbot Development</a:t>
            </a:r>
          </a:p>
        </p:txBody>
      </p:sp>
      <p:sp>
        <p:nvSpPr>
          <p:cNvPr name="AutoShape 3" id="3"/>
          <p:cNvSpPr/>
          <p:nvPr/>
        </p:nvSpPr>
        <p:spPr>
          <a:xfrm>
            <a:off x="9158735" y="990600"/>
            <a:ext cx="8114971" cy="0"/>
          </a:xfrm>
          <a:prstGeom prst="line">
            <a:avLst/>
          </a:prstGeom>
          <a:ln cap="flat" w="76200">
            <a:solidFill>
              <a:srgbClr val="0F4662"/>
            </a:solidFill>
            <a:prstDash val="solid"/>
            <a:headEnd type="none" len="sm" w="sm"/>
            <a:tailEnd type="none" len="sm" w="sm"/>
          </a:ln>
        </p:spPr>
      </p:sp>
      <p:sp>
        <p:nvSpPr>
          <p:cNvPr name="AutoShape 4" id="4"/>
          <p:cNvSpPr/>
          <p:nvPr/>
        </p:nvSpPr>
        <p:spPr>
          <a:xfrm>
            <a:off x="1043764" y="9296400"/>
            <a:ext cx="8114971"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9618706" y="90374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737539" y="5329470"/>
            <a:ext cx="12812922" cy="596900"/>
          </a:xfrm>
          <a:prstGeom prst="rect">
            <a:avLst/>
          </a:prstGeom>
        </p:spPr>
        <p:txBody>
          <a:bodyPr anchor="t" rtlCol="false" tIns="0" lIns="0" bIns="0" rIns="0">
            <a:spAutoFit/>
          </a:bodyPr>
          <a:lstStyle/>
          <a:p>
            <a:pPr algn="ctr" marL="0" indent="0" lvl="0">
              <a:lnSpc>
                <a:spcPts val="4900"/>
              </a:lnSpc>
              <a:spcBef>
                <a:spcPct val="0"/>
              </a:spcBef>
            </a:pPr>
            <a:r>
              <a:rPr lang="en-US" sz="3500">
                <a:solidFill>
                  <a:srgbClr val="0F4662"/>
                </a:solidFill>
                <a:latin typeface="Quicksand"/>
                <a:ea typeface="Quicksand"/>
                <a:cs typeface="Quicksand"/>
                <a:sym typeface="Quicksand"/>
              </a:rPr>
              <a:t>Neural Network-Based Conversational Agent</a:t>
            </a:r>
          </a:p>
        </p:txBody>
      </p:sp>
      <p:sp>
        <p:nvSpPr>
          <p:cNvPr name="TextBox 7" id="7"/>
          <p:cNvSpPr txBox="true"/>
          <p:nvPr/>
        </p:nvSpPr>
        <p:spPr>
          <a:xfrm rot="0">
            <a:off x="5649752" y="7032069"/>
            <a:ext cx="6988496" cy="525912"/>
          </a:xfrm>
          <a:prstGeom prst="rect">
            <a:avLst/>
          </a:prstGeom>
        </p:spPr>
        <p:txBody>
          <a:bodyPr anchor="t" rtlCol="false" tIns="0" lIns="0" bIns="0" rIns="0">
            <a:spAutoFit/>
          </a:bodyPr>
          <a:lstStyle/>
          <a:p>
            <a:pPr algn="ctr" marL="0" indent="0" lvl="0">
              <a:lnSpc>
                <a:spcPts val="4397"/>
              </a:lnSpc>
              <a:spcBef>
                <a:spcPct val="0"/>
              </a:spcBef>
            </a:pPr>
            <a:r>
              <a:rPr lang="en-US" sz="3141">
                <a:solidFill>
                  <a:srgbClr val="0F4662"/>
                </a:solidFill>
                <a:latin typeface="Quicksand"/>
                <a:ea typeface="Quicksand"/>
                <a:cs typeface="Quicksand"/>
                <a:sym typeface="Quicksand"/>
              </a:rPr>
              <a:t>Presented by: Nour Yaakoub</a:t>
            </a:r>
          </a:p>
        </p:txBody>
      </p:sp>
      <p:sp>
        <p:nvSpPr>
          <p:cNvPr name="TextBox 8" id="8"/>
          <p:cNvSpPr txBox="true"/>
          <p:nvPr/>
        </p:nvSpPr>
        <p:spPr>
          <a:xfrm rot="0">
            <a:off x="3322179" y="1967581"/>
            <a:ext cx="11643643" cy="529811"/>
          </a:xfrm>
          <a:prstGeom prst="rect">
            <a:avLst/>
          </a:prstGeom>
        </p:spPr>
        <p:txBody>
          <a:bodyPr anchor="t" rtlCol="false" tIns="0" lIns="0" bIns="0" rIns="0">
            <a:spAutoFit/>
          </a:bodyPr>
          <a:lstStyle/>
          <a:p>
            <a:pPr algn="ctr" marL="0" indent="0" lvl="0">
              <a:lnSpc>
                <a:spcPts val="4397"/>
              </a:lnSpc>
              <a:spcBef>
                <a:spcPct val="0"/>
              </a:spcBef>
            </a:pPr>
            <a:r>
              <a:rPr lang="en-US" sz="3141">
                <a:solidFill>
                  <a:srgbClr val="0F4662"/>
                </a:solidFill>
                <a:latin typeface="Quicksand"/>
                <a:ea typeface="Quicksand"/>
                <a:cs typeface="Quicksand"/>
                <a:sym typeface="Quicksand"/>
              </a:rPr>
              <a:t>Internship Presentation </a:t>
            </a:r>
          </a:p>
        </p:txBody>
      </p:sp>
      <p:sp>
        <p:nvSpPr>
          <p:cNvPr name="Freeform 9" id="9"/>
          <p:cNvSpPr/>
          <p:nvPr/>
        </p:nvSpPr>
        <p:spPr>
          <a:xfrm flipH="false" flipV="false" rot="0">
            <a:off x="5646742" y="8078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2773936" y="4543742"/>
            <a:ext cx="2649235"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Agenda:</a:t>
            </a:r>
          </a:p>
        </p:txBody>
      </p:sp>
      <p:grpSp>
        <p:nvGrpSpPr>
          <p:cNvPr name="Group 3" id="3"/>
          <p:cNvGrpSpPr/>
          <p:nvPr/>
        </p:nvGrpSpPr>
        <p:grpSpPr>
          <a:xfrm rot="0">
            <a:off x="8449761" y="0"/>
            <a:ext cx="9838239" cy="10287000"/>
            <a:chOff x="0" y="0"/>
            <a:chExt cx="2591141" cy="2709333"/>
          </a:xfrm>
        </p:grpSpPr>
        <p:sp>
          <p:nvSpPr>
            <p:cNvPr name="Freeform 4" id="4"/>
            <p:cNvSpPr/>
            <p:nvPr/>
          </p:nvSpPr>
          <p:spPr>
            <a:xfrm flipH="false" flipV="false" rot="0">
              <a:off x="0" y="0"/>
              <a:ext cx="2591141" cy="2709333"/>
            </a:xfrm>
            <a:custGeom>
              <a:avLst/>
              <a:gdLst/>
              <a:ahLst/>
              <a:cxnLst/>
              <a:rect r="r" b="b" t="t" l="l"/>
              <a:pathLst>
                <a:path h="2709333" w="2591141">
                  <a:moveTo>
                    <a:pt x="0" y="0"/>
                  </a:moveTo>
                  <a:lnTo>
                    <a:pt x="2591141" y="0"/>
                  </a:lnTo>
                  <a:lnTo>
                    <a:pt x="2591141" y="2709333"/>
                  </a:lnTo>
                  <a:lnTo>
                    <a:pt x="0" y="2709333"/>
                  </a:lnTo>
                  <a:close/>
                </a:path>
              </a:pathLst>
            </a:custGeom>
            <a:solidFill>
              <a:srgbClr val="DBE5EA"/>
            </a:solidFill>
          </p:spPr>
        </p:sp>
        <p:sp>
          <p:nvSpPr>
            <p:cNvPr name="TextBox 5" id="5"/>
            <p:cNvSpPr txBox="true"/>
            <p:nvPr/>
          </p:nvSpPr>
          <p:spPr>
            <a:xfrm>
              <a:off x="0" y="-123825"/>
              <a:ext cx="2591141" cy="2833158"/>
            </a:xfrm>
            <a:prstGeom prst="rect">
              <a:avLst/>
            </a:prstGeom>
          </p:spPr>
          <p:txBody>
            <a:bodyPr anchor="ctr" rtlCol="false" tIns="50800" lIns="50800" bIns="50800" rIns="50800"/>
            <a:lstStyle/>
            <a:p>
              <a:pPr algn="ctr">
                <a:lnSpc>
                  <a:spcPts val="4079"/>
                </a:lnSpc>
              </a:pPr>
            </a:p>
          </p:txBody>
        </p:sp>
      </p:grpSp>
      <p:sp>
        <p:nvSpPr>
          <p:cNvPr name="TextBox 6" id="6"/>
          <p:cNvSpPr txBox="true"/>
          <p:nvPr/>
        </p:nvSpPr>
        <p:spPr>
          <a:xfrm rot="0">
            <a:off x="8733279" y="2252906"/>
            <a:ext cx="9914964" cy="1012190"/>
          </a:xfrm>
          <a:prstGeom prst="rect">
            <a:avLst/>
          </a:prstGeom>
        </p:spPr>
        <p:txBody>
          <a:bodyPr anchor="t" rtlCol="false" tIns="0" lIns="0" bIns="0" rIns="0">
            <a:spAutoFit/>
          </a:bodyPr>
          <a:lstStyle/>
          <a:p>
            <a:pPr algn="l">
              <a:lnSpc>
                <a:spcPts val="8260"/>
              </a:lnSpc>
              <a:spcBef>
                <a:spcPct val="0"/>
              </a:spcBef>
            </a:pPr>
            <a:r>
              <a:rPr lang="en-US" b="true" sz="5900" i="true">
                <a:solidFill>
                  <a:srgbClr val="0F4662"/>
                </a:solidFill>
                <a:latin typeface="Cormorant Garamond Bold Italics"/>
                <a:ea typeface="Cormorant Garamond Bold Italics"/>
                <a:cs typeface="Cormorant Garamond Bold Italics"/>
                <a:sym typeface="Cormorant Garamond Bold Italics"/>
              </a:rPr>
              <a:t>1 . Company Overview</a:t>
            </a:r>
          </a:p>
        </p:txBody>
      </p:sp>
      <p:sp>
        <p:nvSpPr>
          <p:cNvPr name="TextBox 7" id="7"/>
          <p:cNvSpPr txBox="true"/>
          <p:nvPr/>
        </p:nvSpPr>
        <p:spPr>
          <a:xfrm rot="0">
            <a:off x="8733279" y="4843463"/>
            <a:ext cx="8970395" cy="1012190"/>
          </a:xfrm>
          <a:prstGeom prst="rect">
            <a:avLst/>
          </a:prstGeom>
        </p:spPr>
        <p:txBody>
          <a:bodyPr anchor="t" rtlCol="false" tIns="0" lIns="0" bIns="0" rIns="0">
            <a:spAutoFit/>
          </a:bodyPr>
          <a:lstStyle/>
          <a:p>
            <a:pPr algn="l" marL="0" indent="0" lvl="0">
              <a:lnSpc>
                <a:spcPts val="8260"/>
              </a:lnSpc>
              <a:spcBef>
                <a:spcPct val="0"/>
              </a:spcBef>
            </a:pPr>
            <a:r>
              <a:rPr lang="en-US" b="true" sz="5900" i="true">
                <a:solidFill>
                  <a:srgbClr val="0F4662"/>
                </a:solidFill>
                <a:latin typeface="Cormorant Garamond Bold Italics"/>
                <a:ea typeface="Cormorant Garamond Bold Italics"/>
                <a:cs typeface="Cormorant Garamond Bold Italics"/>
                <a:sym typeface="Cormorant Garamond Bold Italics"/>
              </a:rPr>
              <a:t>3 . Technical Implementation</a:t>
            </a:r>
          </a:p>
        </p:txBody>
      </p:sp>
      <p:sp>
        <p:nvSpPr>
          <p:cNvPr name="TextBox 8" id="8"/>
          <p:cNvSpPr txBox="true"/>
          <p:nvPr/>
        </p:nvSpPr>
        <p:spPr>
          <a:xfrm rot="0">
            <a:off x="8733279" y="3548698"/>
            <a:ext cx="8048163" cy="1012190"/>
          </a:xfrm>
          <a:prstGeom prst="rect">
            <a:avLst/>
          </a:prstGeom>
        </p:spPr>
        <p:txBody>
          <a:bodyPr anchor="t" rtlCol="false" tIns="0" lIns="0" bIns="0" rIns="0">
            <a:spAutoFit/>
          </a:bodyPr>
          <a:lstStyle/>
          <a:p>
            <a:pPr algn="l" marL="0" indent="0" lvl="0">
              <a:lnSpc>
                <a:spcPts val="8260"/>
              </a:lnSpc>
              <a:spcBef>
                <a:spcPct val="0"/>
              </a:spcBef>
            </a:pPr>
            <a:r>
              <a:rPr lang="en-US" b="true" sz="5900" i="true">
                <a:solidFill>
                  <a:srgbClr val="0F4662"/>
                </a:solidFill>
                <a:latin typeface="Cormorant Garamond Bold Italics"/>
                <a:ea typeface="Cormorant Garamond Bold Italics"/>
                <a:cs typeface="Cormorant Garamond Bold Italics"/>
                <a:sym typeface="Cormorant Garamond Bold Italics"/>
              </a:rPr>
              <a:t>2 . Project Overview</a:t>
            </a:r>
          </a:p>
        </p:txBody>
      </p:sp>
      <p:sp>
        <p:nvSpPr>
          <p:cNvPr name="TextBox 9" id="9"/>
          <p:cNvSpPr txBox="true"/>
          <p:nvPr/>
        </p:nvSpPr>
        <p:spPr>
          <a:xfrm rot="0">
            <a:off x="8733279" y="6141403"/>
            <a:ext cx="7708337" cy="1012190"/>
          </a:xfrm>
          <a:prstGeom prst="rect">
            <a:avLst/>
          </a:prstGeom>
        </p:spPr>
        <p:txBody>
          <a:bodyPr anchor="t" rtlCol="false" tIns="0" lIns="0" bIns="0" rIns="0">
            <a:spAutoFit/>
          </a:bodyPr>
          <a:lstStyle/>
          <a:p>
            <a:pPr algn="ctr" marL="0" indent="0" lvl="0">
              <a:lnSpc>
                <a:spcPts val="8260"/>
              </a:lnSpc>
              <a:spcBef>
                <a:spcPct val="0"/>
              </a:spcBef>
            </a:pPr>
            <a:r>
              <a:rPr lang="en-US" b="true" sz="5900" i="true">
                <a:solidFill>
                  <a:srgbClr val="0F4662"/>
                </a:solidFill>
                <a:latin typeface="Cormorant Garamond Bold Italics"/>
                <a:ea typeface="Cormorant Garamond Bold Italics"/>
                <a:cs typeface="Cormorant Garamond Bold Italics"/>
                <a:sym typeface="Cormorant Garamond Bold Italics"/>
              </a:rPr>
              <a:t>4 . Technical Demonstration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4651160"/>
            <a:chOff x="0" y="0"/>
            <a:chExt cx="4816593" cy="1224997"/>
          </a:xfrm>
        </p:grpSpPr>
        <p:sp>
          <p:nvSpPr>
            <p:cNvPr name="Freeform 3" id="3"/>
            <p:cNvSpPr/>
            <p:nvPr/>
          </p:nvSpPr>
          <p:spPr>
            <a:xfrm flipH="false" flipV="false" rot="0">
              <a:off x="0" y="0"/>
              <a:ext cx="4816592" cy="1224997"/>
            </a:xfrm>
            <a:custGeom>
              <a:avLst/>
              <a:gdLst/>
              <a:ahLst/>
              <a:cxnLst/>
              <a:rect r="r" b="b" t="t" l="l"/>
              <a:pathLst>
                <a:path h="1224997" w="4816592">
                  <a:moveTo>
                    <a:pt x="0" y="0"/>
                  </a:moveTo>
                  <a:lnTo>
                    <a:pt x="4816592" y="0"/>
                  </a:lnTo>
                  <a:lnTo>
                    <a:pt x="4816592" y="1224997"/>
                  </a:lnTo>
                  <a:lnTo>
                    <a:pt x="0" y="1224997"/>
                  </a:lnTo>
                  <a:close/>
                </a:path>
              </a:pathLst>
            </a:custGeom>
            <a:solidFill>
              <a:srgbClr val="DBE5EA"/>
            </a:solidFill>
          </p:spPr>
        </p:sp>
        <p:sp>
          <p:nvSpPr>
            <p:cNvPr name="TextBox 4" id="4"/>
            <p:cNvSpPr txBox="true"/>
            <p:nvPr/>
          </p:nvSpPr>
          <p:spPr>
            <a:xfrm>
              <a:off x="0" y="-47625"/>
              <a:ext cx="4816593" cy="1272622"/>
            </a:xfrm>
            <a:prstGeom prst="rect">
              <a:avLst/>
            </a:prstGeom>
          </p:spPr>
          <p:txBody>
            <a:bodyPr anchor="ctr" rtlCol="false" tIns="50800" lIns="50800" bIns="50800" rIns="50800"/>
            <a:lstStyle/>
            <a:p>
              <a:pPr algn="ctr">
                <a:lnSpc>
                  <a:spcPts val="3693"/>
                </a:lnSpc>
              </a:pPr>
            </a:p>
          </p:txBody>
        </p:sp>
      </p:grpSp>
      <p:sp>
        <p:nvSpPr>
          <p:cNvPr name="AutoShape 5" id="5"/>
          <p:cNvSpPr/>
          <p:nvPr/>
        </p:nvSpPr>
        <p:spPr>
          <a:xfrm>
            <a:off x="5897880" y="8681205"/>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9529723"/>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6091002" y="1684924"/>
            <a:ext cx="6105996" cy="2930878"/>
          </a:xfrm>
          <a:custGeom>
            <a:avLst/>
            <a:gdLst/>
            <a:ahLst/>
            <a:cxnLst/>
            <a:rect r="r" b="b" t="t" l="l"/>
            <a:pathLst>
              <a:path h="2930878" w="6105996">
                <a:moveTo>
                  <a:pt x="0" y="0"/>
                </a:moveTo>
                <a:lnTo>
                  <a:pt x="6105996" y="0"/>
                </a:lnTo>
                <a:lnTo>
                  <a:pt x="6105996" y="2930879"/>
                </a:lnTo>
                <a:lnTo>
                  <a:pt x="0" y="2930879"/>
                </a:lnTo>
                <a:lnTo>
                  <a:pt x="0" y="0"/>
                </a:lnTo>
                <a:close/>
              </a:path>
            </a:pathLst>
          </a:custGeom>
          <a:blipFill>
            <a:blip r:embed="rId4"/>
            <a:stretch>
              <a:fillRect l="0" t="0" r="0" b="0"/>
            </a:stretch>
          </a:blipFill>
        </p:spPr>
      </p:sp>
      <p:sp>
        <p:nvSpPr>
          <p:cNvPr name="TextBox 8" id="8"/>
          <p:cNvSpPr txBox="true"/>
          <p:nvPr/>
        </p:nvSpPr>
        <p:spPr>
          <a:xfrm rot="0">
            <a:off x="1028700" y="599709"/>
            <a:ext cx="9914964" cy="1085215"/>
          </a:xfrm>
          <a:prstGeom prst="rect">
            <a:avLst/>
          </a:prstGeom>
        </p:spPr>
        <p:txBody>
          <a:bodyPr anchor="t" rtlCol="false" tIns="0" lIns="0" bIns="0" rIns="0">
            <a:spAutoFit/>
          </a:bodyPr>
          <a:lstStyle/>
          <a:p>
            <a:pPr algn="l">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1 . Company Overview</a:t>
            </a:r>
          </a:p>
        </p:txBody>
      </p:sp>
      <p:sp>
        <p:nvSpPr>
          <p:cNvPr name="TextBox 9" id="9"/>
          <p:cNvSpPr txBox="true"/>
          <p:nvPr/>
        </p:nvSpPr>
        <p:spPr>
          <a:xfrm rot="0">
            <a:off x="4163754" y="5019675"/>
            <a:ext cx="9960491" cy="2543175"/>
          </a:xfrm>
          <a:prstGeom prst="rect">
            <a:avLst/>
          </a:prstGeom>
        </p:spPr>
        <p:txBody>
          <a:bodyPr anchor="t" rtlCol="false" tIns="0" lIns="0" bIns="0" rIns="0">
            <a:spAutoFit/>
          </a:bodyPr>
          <a:lstStyle/>
          <a:p>
            <a:pPr algn="ctr" marL="0" indent="0" lvl="0">
              <a:lnSpc>
                <a:spcPts val="4079"/>
              </a:lnSpc>
            </a:pPr>
            <a:r>
              <a:rPr lang="en-US" sz="2400">
                <a:solidFill>
                  <a:srgbClr val="0F4662"/>
                </a:solidFill>
                <a:latin typeface="Quicksand"/>
                <a:ea typeface="Quicksand"/>
                <a:cs typeface="Quicksand"/>
                <a:sym typeface="Quicksand"/>
              </a:rPr>
              <a:t>Belmont Web, established in 2018, is a leading digital agency in Tunisia specializing in web development and digital solutions. During my internship, I worked in their IT department, which is responsible for developing and maintaining web applications and implementing digital solutions for clients.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163754" y="4293667"/>
            <a:ext cx="9960491" cy="2028825"/>
          </a:xfrm>
          <a:prstGeom prst="rect">
            <a:avLst/>
          </a:prstGeom>
        </p:spPr>
        <p:txBody>
          <a:bodyPr anchor="t" rtlCol="false" tIns="0" lIns="0" bIns="0" rIns="0">
            <a:spAutoFit/>
          </a:bodyPr>
          <a:lstStyle/>
          <a:p>
            <a:pPr algn="ctr" marL="0" indent="0" lvl="0">
              <a:lnSpc>
                <a:spcPts val="4079"/>
              </a:lnSpc>
            </a:pPr>
            <a:r>
              <a:rPr lang="en-US" sz="2400">
                <a:solidFill>
                  <a:srgbClr val="0F4662"/>
                </a:solidFill>
                <a:latin typeface="Quicksand"/>
                <a:ea typeface="Quicksand"/>
                <a:cs typeface="Quicksand"/>
                <a:sym typeface="Quicksand"/>
              </a:rPr>
              <a:t>The main objective of my internship was to develop an intelligent chatbot system that could understand and respond to customer queries naturally. This project aimed to automate customer service while maintaining a personal touch in communications.</a:t>
            </a:r>
          </a:p>
        </p:txBody>
      </p:sp>
      <p:sp>
        <p:nvSpPr>
          <p:cNvPr name="AutoShape 3" id="3"/>
          <p:cNvSpPr/>
          <p:nvPr/>
        </p:nvSpPr>
        <p:spPr>
          <a:xfrm>
            <a:off x="5897880" y="3568974"/>
            <a:ext cx="6492240" cy="0"/>
          </a:xfrm>
          <a:prstGeom prst="line">
            <a:avLst/>
          </a:prstGeom>
          <a:ln cap="flat" w="76200">
            <a:solidFill>
              <a:srgbClr val="0F4662"/>
            </a:solidFill>
            <a:prstDash val="solid"/>
            <a:headEnd type="none" len="sm" w="sm"/>
            <a:tailEnd type="none" len="sm" w="sm"/>
          </a:ln>
        </p:spPr>
      </p:sp>
      <p:sp>
        <p:nvSpPr>
          <p:cNvPr name="AutoShape 4" id="4"/>
          <p:cNvSpPr/>
          <p:nvPr/>
        </p:nvSpPr>
        <p:spPr>
          <a:xfrm>
            <a:off x="5897880" y="7171009"/>
            <a:ext cx="6492240"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8304001" y="247055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599709"/>
            <a:ext cx="804816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2 . Project Overview</a:t>
            </a:r>
          </a:p>
        </p:txBody>
      </p:sp>
      <p:sp>
        <p:nvSpPr>
          <p:cNvPr name="Freeform 7" id="7"/>
          <p:cNvSpPr/>
          <p:nvPr/>
        </p:nvSpPr>
        <p:spPr>
          <a:xfrm flipH="false" flipV="false" rot="0">
            <a:off x="8304001" y="8019527"/>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354926" y="2247660"/>
            <a:ext cx="7348991" cy="7010640"/>
          </a:xfrm>
          <a:custGeom>
            <a:avLst/>
            <a:gdLst/>
            <a:ahLst/>
            <a:cxnLst/>
            <a:rect r="r" b="b" t="t" l="l"/>
            <a:pathLst>
              <a:path h="7010640" w="7348991">
                <a:moveTo>
                  <a:pt x="0" y="0"/>
                </a:moveTo>
                <a:lnTo>
                  <a:pt x="7348991" y="0"/>
                </a:lnTo>
                <a:lnTo>
                  <a:pt x="7348991" y="7010640"/>
                </a:lnTo>
                <a:lnTo>
                  <a:pt x="0" y="7010640"/>
                </a:lnTo>
                <a:lnTo>
                  <a:pt x="0" y="0"/>
                </a:lnTo>
                <a:close/>
              </a:path>
            </a:pathLst>
          </a:custGeom>
          <a:blipFill>
            <a:blip r:embed="rId2"/>
            <a:stretch>
              <a:fillRect l="0" t="0" r="0" b="0"/>
            </a:stretch>
          </a:blipFill>
        </p:spPr>
      </p:sp>
      <p:sp>
        <p:nvSpPr>
          <p:cNvPr name="TextBox 3" id="3"/>
          <p:cNvSpPr txBox="true"/>
          <p:nvPr/>
        </p:nvSpPr>
        <p:spPr>
          <a:xfrm rot="0">
            <a:off x="4991266" y="1494424"/>
            <a:ext cx="8305469" cy="1000125"/>
          </a:xfrm>
          <a:prstGeom prst="rect">
            <a:avLst/>
          </a:prstGeom>
        </p:spPr>
        <p:txBody>
          <a:bodyPr anchor="t" rtlCol="false" tIns="0" lIns="0" bIns="0" rIns="0">
            <a:spAutoFit/>
          </a:bodyPr>
          <a:lstStyle/>
          <a:p>
            <a:pPr algn="ctr" marL="0" indent="0" lvl="0">
              <a:lnSpc>
                <a:spcPts val="4079"/>
              </a:lnSpc>
            </a:pPr>
            <a:r>
              <a:rPr lang="en-US" sz="2400">
                <a:solidFill>
                  <a:srgbClr val="0F4662"/>
                </a:solidFill>
                <a:latin typeface="Quicksand"/>
                <a:ea typeface="Quicksand"/>
                <a:cs typeface="Quicksand"/>
                <a:sym typeface="Quicksand"/>
              </a:rPr>
              <a:t>The technical requirements were challenging: we needed a system that could:</a:t>
            </a:r>
          </a:p>
        </p:txBody>
      </p:sp>
      <p:sp>
        <p:nvSpPr>
          <p:cNvPr name="TextBox 4" id="4"/>
          <p:cNvSpPr txBox="true"/>
          <p:nvPr/>
        </p:nvSpPr>
        <p:spPr>
          <a:xfrm rot="0">
            <a:off x="4231828" y="3848749"/>
            <a:ext cx="2246196" cy="744923"/>
          </a:xfrm>
          <a:prstGeom prst="rect">
            <a:avLst/>
          </a:prstGeom>
        </p:spPr>
        <p:txBody>
          <a:bodyPr anchor="t" rtlCol="false" tIns="0" lIns="0" bIns="0" rIns="0">
            <a:spAutoFit/>
          </a:bodyPr>
          <a:lstStyle/>
          <a:p>
            <a:pPr algn="ctr">
              <a:lnSpc>
                <a:spcPts val="3086"/>
              </a:lnSpc>
            </a:pPr>
            <a:r>
              <a:rPr lang="en-US" sz="1815">
                <a:solidFill>
                  <a:srgbClr val="0F4662"/>
                </a:solidFill>
                <a:latin typeface="Quicksand"/>
                <a:ea typeface="Quicksand"/>
                <a:cs typeface="Quicksand"/>
                <a:sym typeface="Quicksand"/>
              </a:rPr>
              <a:t>Integrate with </a:t>
            </a:r>
          </a:p>
          <a:p>
            <a:pPr algn="ctr" marL="0" indent="0" lvl="0">
              <a:lnSpc>
                <a:spcPts val="3086"/>
              </a:lnSpc>
            </a:pPr>
            <a:r>
              <a:rPr lang="en-US" sz="1815">
                <a:solidFill>
                  <a:srgbClr val="0F4662"/>
                </a:solidFill>
                <a:latin typeface="Quicksand"/>
                <a:ea typeface="Quicksand"/>
                <a:cs typeface="Quicksand"/>
                <a:sym typeface="Quicksand"/>
              </a:rPr>
              <a:t>Web Interfaces</a:t>
            </a:r>
          </a:p>
        </p:txBody>
      </p:sp>
      <p:sp>
        <p:nvSpPr>
          <p:cNvPr name="TextBox 5" id="5"/>
          <p:cNvSpPr txBox="true"/>
          <p:nvPr/>
        </p:nvSpPr>
        <p:spPr>
          <a:xfrm rot="0">
            <a:off x="11809975" y="3848749"/>
            <a:ext cx="2246196" cy="744923"/>
          </a:xfrm>
          <a:prstGeom prst="rect">
            <a:avLst/>
          </a:prstGeom>
        </p:spPr>
        <p:txBody>
          <a:bodyPr anchor="t" rtlCol="false" tIns="0" lIns="0" bIns="0" rIns="0">
            <a:spAutoFit/>
          </a:bodyPr>
          <a:lstStyle/>
          <a:p>
            <a:pPr algn="ctr" marL="0" indent="0" lvl="0">
              <a:lnSpc>
                <a:spcPts val="3086"/>
              </a:lnSpc>
            </a:pPr>
            <a:r>
              <a:rPr lang="en-US" sz="1815">
                <a:solidFill>
                  <a:srgbClr val="0F4662"/>
                </a:solidFill>
                <a:latin typeface="Quicksand"/>
                <a:ea typeface="Quicksand"/>
                <a:cs typeface="Quicksand"/>
                <a:sym typeface="Quicksand"/>
              </a:rPr>
              <a:t>Understand Natural Language Input</a:t>
            </a:r>
          </a:p>
        </p:txBody>
      </p:sp>
      <p:sp>
        <p:nvSpPr>
          <p:cNvPr name="TextBox 6" id="6"/>
          <p:cNvSpPr txBox="true"/>
          <p:nvPr/>
        </p:nvSpPr>
        <p:spPr>
          <a:xfrm rot="0">
            <a:off x="4231828" y="6911855"/>
            <a:ext cx="2246196" cy="744923"/>
          </a:xfrm>
          <a:prstGeom prst="rect">
            <a:avLst/>
          </a:prstGeom>
        </p:spPr>
        <p:txBody>
          <a:bodyPr anchor="t" rtlCol="false" tIns="0" lIns="0" bIns="0" rIns="0">
            <a:spAutoFit/>
          </a:bodyPr>
          <a:lstStyle/>
          <a:p>
            <a:pPr algn="ctr" marL="0" indent="0" lvl="0">
              <a:lnSpc>
                <a:spcPts val="3086"/>
              </a:lnSpc>
            </a:pPr>
            <a:r>
              <a:rPr lang="en-US" sz="1815">
                <a:solidFill>
                  <a:srgbClr val="0F4662"/>
                </a:solidFill>
                <a:latin typeface="Quicksand"/>
                <a:ea typeface="Quicksand"/>
                <a:cs typeface="Quicksand"/>
                <a:sym typeface="Quicksand"/>
              </a:rPr>
              <a:t>Generate Real-time Responses</a:t>
            </a:r>
          </a:p>
        </p:txBody>
      </p:sp>
      <p:sp>
        <p:nvSpPr>
          <p:cNvPr name="TextBox 7" id="7"/>
          <p:cNvSpPr txBox="true"/>
          <p:nvPr/>
        </p:nvSpPr>
        <p:spPr>
          <a:xfrm rot="0">
            <a:off x="11809975" y="6911855"/>
            <a:ext cx="2246196" cy="744923"/>
          </a:xfrm>
          <a:prstGeom prst="rect">
            <a:avLst/>
          </a:prstGeom>
        </p:spPr>
        <p:txBody>
          <a:bodyPr anchor="t" rtlCol="false" tIns="0" lIns="0" bIns="0" rIns="0">
            <a:spAutoFit/>
          </a:bodyPr>
          <a:lstStyle/>
          <a:p>
            <a:pPr algn="ctr" marL="0" indent="0" lvl="0">
              <a:lnSpc>
                <a:spcPts val="3086"/>
              </a:lnSpc>
            </a:pPr>
            <a:r>
              <a:rPr lang="en-US" sz="1815">
                <a:solidFill>
                  <a:srgbClr val="0F4662"/>
                </a:solidFill>
                <a:latin typeface="Quicksand"/>
                <a:ea typeface="Quicksand"/>
                <a:cs typeface="Quicksand"/>
                <a:sym typeface="Quicksand"/>
              </a:rPr>
              <a:t>Classify User Intentions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886761" y="2456695"/>
            <a:ext cx="5385764" cy="6426664"/>
            <a:chOff x="0" y="0"/>
            <a:chExt cx="1418473" cy="1692619"/>
          </a:xfrm>
        </p:grpSpPr>
        <p:sp>
          <p:nvSpPr>
            <p:cNvPr name="Freeform 3" id="3"/>
            <p:cNvSpPr/>
            <p:nvPr/>
          </p:nvSpPr>
          <p:spPr>
            <a:xfrm flipH="false" flipV="false" rot="0">
              <a:off x="0" y="0"/>
              <a:ext cx="1418473" cy="1692619"/>
            </a:xfrm>
            <a:custGeom>
              <a:avLst/>
              <a:gdLst/>
              <a:ahLst/>
              <a:cxnLst/>
              <a:rect r="r" b="b" t="t" l="l"/>
              <a:pathLst>
                <a:path h="1692619" w="1418473">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name="TextBox 4" id="4"/>
            <p:cNvSpPr txBox="true"/>
            <p:nvPr/>
          </p:nvSpPr>
          <p:spPr>
            <a:xfrm>
              <a:off x="0" y="-123825"/>
              <a:ext cx="1418473" cy="1816444"/>
            </a:xfrm>
            <a:prstGeom prst="rect">
              <a:avLst/>
            </a:prstGeom>
          </p:spPr>
          <p:txBody>
            <a:bodyPr anchor="ctr" rtlCol="false" tIns="50800" lIns="50800" bIns="50800" rIns="50800"/>
            <a:lstStyle/>
            <a:p>
              <a:pPr algn="ctr">
                <a:lnSpc>
                  <a:spcPts val="4079"/>
                </a:lnSpc>
              </a:pPr>
            </a:p>
          </p:txBody>
        </p:sp>
      </p:grpSp>
      <p:grpSp>
        <p:nvGrpSpPr>
          <p:cNvPr name="Group 5" id="5"/>
          <p:cNvGrpSpPr/>
          <p:nvPr/>
        </p:nvGrpSpPr>
        <p:grpSpPr>
          <a:xfrm rot="0">
            <a:off x="6451118" y="2456695"/>
            <a:ext cx="5385764" cy="6426664"/>
            <a:chOff x="0" y="0"/>
            <a:chExt cx="1418473" cy="1692619"/>
          </a:xfrm>
        </p:grpSpPr>
        <p:sp>
          <p:nvSpPr>
            <p:cNvPr name="Freeform 6" id="6"/>
            <p:cNvSpPr/>
            <p:nvPr/>
          </p:nvSpPr>
          <p:spPr>
            <a:xfrm flipH="false" flipV="false" rot="0">
              <a:off x="0" y="0"/>
              <a:ext cx="1418473" cy="1692619"/>
            </a:xfrm>
            <a:custGeom>
              <a:avLst/>
              <a:gdLst/>
              <a:ahLst/>
              <a:cxnLst/>
              <a:rect r="r" b="b" t="t" l="l"/>
              <a:pathLst>
                <a:path h="1692619" w="1418473">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A9BECB"/>
            </a:solidFill>
          </p:spPr>
        </p:sp>
        <p:sp>
          <p:nvSpPr>
            <p:cNvPr name="TextBox 7" id="7"/>
            <p:cNvSpPr txBox="true"/>
            <p:nvPr/>
          </p:nvSpPr>
          <p:spPr>
            <a:xfrm>
              <a:off x="0" y="-123825"/>
              <a:ext cx="1418473" cy="1816444"/>
            </a:xfrm>
            <a:prstGeom prst="rect">
              <a:avLst/>
            </a:prstGeom>
          </p:spPr>
          <p:txBody>
            <a:bodyPr anchor="ctr" rtlCol="false" tIns="50800" lIns="50800" bIns="50800" rIns="50800"/>
            <a:lstStyle/>
            <a:p>
              <a:pPr algn="ctr">
                <a:lnSpc>
                  <a:spcPts val="4079"/>
                </a:lnSpc>
              </a:pPr>
            </a:p>
          </p:txBody>
        </p:sp>
      </p:grpSp>
      <p:grpSp>
        <p:nvGrpSpPr>
          <p:cNvPr name="Group 8" id="8"/>
          <p:cNvGrpSpPr/>
          <p:nvPr/>
        </p:nvGrpSpPr>
        <p:grpSpPr>
          <a:xfrm rot="0">
            <a:off x="12015475" y="2456695"/>
            <a:ext cx="5385764" cy="6426664"/>
            <a:chOff x="0" y="0"/>
            <a:chExt cx="1418473" cy="1692619"/>
          </a:xfrm>
        </p:grpSpPr>
        <p:sp>
          <p:nvSpPr>
            <p:cNvPr name="Freeform 9" id="9"/>
            <p:cNvSpPr/>
            <p:nvPr/>
          </p:nvSpPr>
          <p:spPr>
            <a:xfrm flipH="false" flipV="false" rot="0">
              <a:off x="0" y="0"/>
              <a:ext cx="1418473" cy="1692619"/>
            </a:xfrm>
            <a:custGeom>
              <a:avLst/>
              <a:gdLst/>
              <a:ahLst/>
              <a:cxnLst/>
              <a:rect r="r" b="b" t="t" l="l"/>
              <a:pathLst>
                <a:path h="1692619" w="1418473">
                  <a:moveTo>
                    <a:pt x="73311" y="0"/>
                  </a:moveTo>
                  <a:lnTo>
                    <a:pt x="1345161" y="0"/>
                  </a:lnTo>
                  <a:cubicBezTo>
                    <a:pt x="1364605" y="0"/>
                    <a:pt x="1383252" y="7724"/>
                    <a:pt x="1397000" y="21472"/>
                  </a:cubicBezTo>
                  <a:cubicBezTo>
                    <a:pt x="1410749" y="35221"/>
                    <a:pt x="1418473" y="53868"/>
                    <a:pt x="1418473" y="73311"/>
                  </a:cubicBezTo>
                  <a:lnTo>
                    <a:pt x="1418473" y="1619308"/>
                  </a:lnTo>
                  <a:cubicBezTo>
                    <a:pt x="1418473" y="1638751"/>
                    <a:pt x="1410749" y="1657398"/>
                    <a:pt x="1397000" y="1671147"/>
                  </a:cubicBezTo>
                  <a:cubicBezTo>
                    <a:pt x="1383252" y="1684896"/>
                    <a:pt x="1364605" y="1692619"/>
                    <a:pt x="1345161" y="1692619"/>
                  </a:cubicBezTo>
                  <a:lnTo>
                    <a:pt x="73311" y="1692619"/>
                  </a:lnTo>
                  <a:cubicBezTo>
                    <a:pt x="32823" y="1692619"/>
                    <a:pt x="0" y="1659797"/>
                    <a:pt x="0" y="1619308"/>
                  </a:cubicBezTo>
                  <a:lnTo>
                    <a:pt x="0" y="73311"/>
                  </a:lnTo>
                  <a:cubicBezTo>
                    <a:pt x="0" y="53868"/>
                    <a:pt x="7724" y="35221"/>
                    <a:pt x="21472" y="21472"/>
                  </a:cubicBezTo>
                  <a:cubicBezTo>
                    <a:pt x="35221" y="7724"/>
                    <a:pt x="53868" y="0"/>
                    <a:pt x="73311" y="0"/>
                  </a:cubicBezTo>
                  <a:close/>
                </a:path>
              </a:pathLst>
            </a:custGeom>
            <a:solidFill>
              <a:srgbClr val="DBE5EA"/>
            </a:solidFill>
          </p:spPr>
        </p:sp>
        <p:sp>
          <p:nvSpPr>
            <p:cNvPr name="TextBox 10" id="10"/>
            <p:cNvSpPr txBox="true"/>
            <p:nvPr/>
          </p:nvSpPr>
          <p:spPr>
            <a:xfrm>
              <a:off x="0" y="-123825"/>
              <a:ext cx="1418473" cy="1816444"/>
            </a:xfrm>
            <a:prstGeom prst="rect">
              <a:avLst/>
            </a:prstGeom>
          </p:spPr>
          <p:txBody>
            <a:bodyPr anchor="ctr" rtlCol="false" tIns="50800" lIns="50800" bIns="50800" rIns="50800"/>
            <a:lstStyle/>
            <a:p>
              <a:pPr algn="ctr">
                <a:lnSpc>
                  <a:spcPts val="4079"/>
                </a:lnSpc>
              </a:pPr>
            </a:p>
          </p:txBody>
        </p:sp>
      </p:grpSp>
      <p:sp>
        <p:nvSpPr>
          <p:cNvPr name="AutoShape 11" id="11"/>
          <p:cNvSpPr/>
          <p:nvPr/>
        </p:nvSpPr>
        <p:spPr>
          <a:xfrm>
            <a:off x="10767060" y="990600"/>
            <a:ext cx="6492240" cy="0"/>
          </a:xfrm>
          <a:prstGeom prst="line">
            <a:avLst/>
          </a:prstGeom>
          <a:ln cap="flat" w="76200">
            <a:solidFill>
              <a:srgbClr val="0F4662"/>
            </a:solidFill>
            <a:prstDash val="solid"/>
            <a:headEnd type="none" len="sm" w="sm"/>
            <a:tailEnd type="none" len="sm" w="sm"/>
          </a:ln>
        </p:spPr>
      </p:sp>
      <p:sp>
        <p:nvSpPr>
          <p:cNvPr name="Freeform 12" id="12"/>
          <p:cNvSpPr/>
          <p:nvPr/>
        </p:nvSpPr>
        <p:spPr>
          <a:xfrm flipH="false" flipV="false" rot="0">
            <a:off x="2350906" y="2973053"/>
            <a:ext cx="2457474" cy="2457474"/>
          </a:xfrm>
          <a:custGeom>
            <a:avLst/>
            <a:gdLst/>
            <a:ahLst/>
            <a:cxnLst/>
            <a:rect r="r" b="b" t="t" l="l"/>
            <a:pathLst>
              <a:path h="2457474" w="2457474">
                <a:moveTo>
                  <a:pt x="0" y="0"/>
                </a:moveTo>
                <a:lnTo>
                  <a:pt x="2457475" y="0"/>
                </a:lnTo>
                <a:lnTo>
                  <a:pt x="2457475" y="2457474"/>
                </a:lnTo>
                <a:lnTo>
                  <a:pt x="0" y="2457474"/>
                </a:lnTo>
                <a:lnTo>
                  <a:pt x="0" y="0"/>
                </a:lnTo>
                <a:close/>
              </a:path>
            </a:pathLst>
          </a:custGeom>
          <a:blipFill>
            <a:blip r:embed="rId2"/>
            <a:stretch>
              <a:fillRect l="0" t="0" r="0" b="0"/>
            </a:stretch>
          </a:blipFill>
        </p:spPr>
      </p:sp>
      <p:sp>
        <p:nvSpPr>
          <p:cNvPr name="Freeform 13" id="13"/>
          <p:cNvSpPr/>
          <p:nvPr/>
        </p:nvSpPr>
        <p:spPr>
          <a:xfrm flipH="false" flipV="false" rot="0">
            <a:off x="7992738" y="3050528"/>
            <a:ext cx="2302525" cy="2302525"/>
          </a:xfrm>
          <a:custGeom>
            <a:avLst/>
            <a:gdLst/>
            <a:ahLst/>
            <a:cxnLst/>
            <a:rect r="r" b="b" t="t" l="l"/>
            <a:pathLst>
              <a:path h="2302525" w="2302525">
                <a:moveTo>
                  <a:pt x="0" y="0"/>
                </a:moveTo>
                <a:lnTo>
                  <a:pt x="2302524" y="0"/>
                </a:lnTo>
                <a:lnTo>
                  <a:pt x="2302524" y="2302524"/>
                </a:lnTo>
                <a:lnTo>
                  <a:pt x="0" y="2302524"/>
                </a:lnTo>
                <a:lnTo>
                  <a:pt x="0" y="0"/>
                </a:lnTo>
                <a:close/>
              </a:path>
            </a:pathLst>
          </a:custGeom>
          <a:blipFill>
            <a:blip r:embed="rId3"/>
            <a:stretch>
              <a:fillRect l="0" t="0" r="0" b="0"/>
            </a:stretch>
          </a:blipFill>
        </p:spPr>
      </p:sp>
      <p:sp>
        <p:nvSpPr>
          <p:cNvPr name="Freeform 14" id="14"/>
          <p:cNvSpPr/>
          <p:nvPr/>
        </p:nvSpPr>
        <p:spPr>
          <a:xfrm flipH="false" flipV="false" rot="0">
            <a:off x="13470999" y="3050528"/>
            <a:ext cx="2474715" cy="2474715"/>
          </a:xfrm>
          <a:custGeom>
            <a:avLst/>
            <a:gdLst/>
            <a:ahLst/>
            <a:cxnLst/>
            <a:rect r="r" b="b" t="t" l="l"/>
            <a:pathLst>
              <a:path h="2474715" w="2474715">
                <a:moveTo>
                  <a:pt x="0" y="0"/>
                </a:moveTo>
                <a:lnTo>
                  <a:pt x="2474715" y="0"/>
                </a:lnTo>
                <a:lnTo>
                  <a:pt x="2474715" y="2474715"/>
                </a:lnTo>
                <a:lnTo>
                  <a:pt x="0" y="2474715"/>
                </a:lnTo>
                <a:lnTo>
                  <a:pt x="0" y="0"/>
                </a:lnTo>
                <a:close/>
              </a:path>
            </a:pathLst>
          </a:custGeom>
          <a:blipFill>
            <a:blip r:embed="rId4"/>
            <a:stretch>
              <a:fillRect l="0" t="0" r="0" b="0"/>
            </a:stretch>
          </a:blipFill>
        </p:spPr>
      </p:sp>
      <p:sp>
        <p:nvSpPr>
          <p:cNvPr name="TextBox 15" id="15"/>
          <p:cNvSpPr txBox="true"/>
          <p:nvPr/>
        </p:nvSpPr>
        <p:spPr>
          <a:xfrm rot="0">
            <a:off x="1028700" y="599709"/>
            <a:ext cx="8970395"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3 . Technical Implementation</a:t>
            </a:r>
          </a:p>
        </p:txBody>
      </p:sp>
      <p:sp>
        <p:nvSpPr>
          <p:cNvPr name="TextBox 16" id="16"/>
          <p:cNvSpPr txBox="true"/>
          <p:nvPr/>
        </p:nvSpPr>
        <p:spPr>
          <a:xfrm rot="0">
            <a:off x="1087317" y="6111350"/>
            <a:ext cx="4984653" cy="212090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0F4662"/>
                </a:solidFill>
                <a:latin typeface="Quicksand"/>
                <a:ea typeface="Quicksand"/>
                <a:cs typeface="Quicksand"/>
                <a:sym typeface="Quicksand"/>
              </a:rPr>
              <a:t>Our chatbot uses a PyTorch neural network with three layer. It converts user messages into vectors, processes them, and identifies intents to select a relevant response.</a:t>
            </a:r>
          </a:p>
        </p:txBody>
      </p:sp>
      <p:sp>
        <p:nvSpPr>
          <p:cNvPr name="TextBox 17" id="17"/>
          <p:cNvSpPr txBox="true"/>
          <p:nvPr/>
        </p:nvSpPr>
        <p:spPr>
          <a:xfrm rot="0">
            <a:off x="1028700" y="5580494"/>
            <a:ext cx="5101887" cy="490855"/>
          </a:xfrm>
          <a:prstGeom prst="rect">
            <a:avLst/>
          </a:prstGeom>
        </p:spPr>
        <p:txBody>
          <a:bodyPr anchor="t" rtlCol="false" tIns="0" lIns="0" bIns="0" rIns="0">
            <a:spAutoFit/>
          </a:bodyPr>
          <a:lstStyle/>
          <a:p>
            <a:pPr algn="ctr" marL="0" indent="0" lvl="0">
              <a:lnSpc>
                <a:spcPts val="3919"/>
              </a:lnSpc>
              <a:spcBef>
                <a:spcPct val="0"/>
              </a:spcBef>
            </a:pPr>
            <a:r>
              <a:rPr lang="en-US" b="true" sz="2799">
                <a:solidFill>
                  <a:srgbClr val="0F4662"/>
                </a:solidFill>
                <a:latin typeface="Quicksand Bold"/>
                <a:ea typeface="Quicksand Bold"/>
                <a:cs typeface="Quicksand Bold"/>
                <a:sym typeface="Quicksand Bold"/>
              </a:rPr>
              <a:t>Neural Network Model</a:t>
            </a:r>
          </a:p>
        </p:txBody>
      </p:sp>
      <p:sp>
        <p:nvSpPr>
          <p:cNvPr name="TextBox 18" id="18"/>
          <p:cNvSpPr txBox="true"/>
          <p:nvPr/>
        </p:nvSpPr>
        <p:spPr>
          <a:xfrm rot="0">
            <a:off x="6593057" y="5580494"/>
            <a:ext cx="5101887" cy="490855"/>
          </a:xfrm>
          <a:prstGeom prst="rect">
            <a:avLst/>
          </a:prstGeom>
        </p:spPr>
        <p:txBody>
          <a:bodyPr anchor="t" rtlCol="false" tIns="0" lIns="0" bIns="0" rIns="0">
            <a:spAutoFit/>
          </a:bodyPr>
          <a:lstStyle/>
          <a:p>
            <a:pPr algn="ctr" marL="0" indent="0" lvl="0">
              <a:lnSpc>
                <a:spcPts val="3919"/>
              </a:lnSpc>
              <a:spcBef>
                <a:spcPct val="0"/>
              </a:spcBef>
            </a:pPr>
            <a:r>
              <a:rPr lang="en-US" b="true" sz="2799">
                <a:solidFill>
                  <a:srgbClr val="0F4662"/>
                </a:solidFill>
                <a:latin typeface="Quicksand Bold"/>
                <a:ea typeface="Quicksand Bold"/>
                <a:cs typeface="Quicksand Bold"/>
                <a:sym typeface="Quicksand Bold"/>
              </a:rPr>
              <a:t>Backend Development</a:t>
            </a:r>
          </a:p>
        </p:txBody>
      </p:sp>
      <p:sp>
        <p:nvSpPr>
          <p:cNvPr name="TextBox 19" id="19"/>
          <p:cNvSpPr txBox="true"/>
          <p:nvPr/>
        </p:nvSpPr>
        <p:spPr>
          <a:xfrm rot="0">
            <a:off x="12157413" y="5603352"/>
            <a:ext cx="5101887" cy="490855"/>
          </a:xfrm>
          <a:prstGeom prst="rect">
            <a:avLst/>
          </a:prstGeom>
        </p:spPr>
        <p:txBody>
          <a:bodyPr anchor="t" rtlCol="false" tIns="0" lIns="0" bIns="0" rIns="0">
            <a:spAutoFit/>
          </a:bodyPr>
          <a:lstStyle/>
          <a:p>
            <a:pPr algn="ctr" marL="0" indent="0" lvl="0">
              <a:lnSpc>
                <a:spcPts val="3919"/>
              </a:lnSpc>
              <a:spcBef>
                <a:spcPct val="0"/>
              </a:spcBef>
            </a:pPr>
            <a:r>
              <a:rPr lang="en-US" b="true" sz="2799">
                <a:solidFill>
                  <a:srgbClr val="0F4662"/>
                </a:solidFill>
                <a:latin typeface="Quicksand Bold"/>
                <a:ea typeface="Quicksand Bold"/>
                <a:cs typeface="Quicksand Bold"/>
                <a:sym typeface="Quicksand Bold"/>
              </a:rPr>
              <a:t>Frontend Integration</a:t>
            </a:r>
          </a:p>
        </p:txBody>
      </p:sp>
      <p:sp>
        <p:nvSpPr>
          <p:cNvPr name="TextBox 20" id="20"/>
          <p:cNvSpPr txBox="true"/>
          <p:nvPr/>
        </p:nvSpPr>
        <p:spPr>
          <a:xfrm rot="0">
            <a:off x="6849847" y="6111350"/>
            <a:ext cx="4588306" cy="212090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0F4662"/>
                </a:solidFill>
                <a:latin typeface="Quicksand"/>
                <a:ea typeface="Quicksand"/>
                <a:cs typeface="Quicksand"/>
                <a:sym typeface="Quicksand"/>
              </a:rPr>
              <a:t>I implemented a Flask server that handles frontend requests, communicates with the neural network, processes responses, and manages API endpoints.</a:t>
            </a:r>
          </a:p>
        </p:txBody>
      </p:sp>
      <p:sp>
        <p:nvSpPr>
          <p:cNvPr name="TextBox 21" id="21"/>
          <p:cNvSpPr txBox="true"/>
          <p:nvPr/>
        </p:nvSpPr>
        <p:spPr>
          <a:xfrm rot="0">
            <a:off x="12414204" y="6111350"/>
            <a:ext cx="4588306" cy="2120900"/>
          </a:xfrm>
          <a:prstGeom prst="rect">
            <a:avLst/>
          </a:prstGeom>
        </p:spPr>
        <p:txBody>
          <a:bodyPr anchor="t" rtlCol="false" tIns="0" lIns="0" bIns="0" rIns="0">
            <a:spAutoFit/>
          </a:bodyPr>
          <a:lstStyle/>
          <a:p>
            <a:pPr algn="l" marL="431801" indent="-215900" lvl="1">
              <a:lnSpc>
                <a:spcPts val="3400"/>
              </a:lnSpc>
              <a:buFont typeface="Arial"/>
              <a:buChar char="•"/>
            </a:pPr>
            <a:r>
              <a:rPr lang="en-US" sz="2000">
                <a:solidFill>
                  <a:srgbClr val="0F4662"/>
                </a:solidFill>
                <a:latin typeface="Quicksand"/>
                <a:ea typeface="Quicksand"/>
                <a:cs typeface="Quicksand"/>
                <a:sym typeface="Quicksand"/>
              </a:rPr>
              <a:t>The frontend, built with HTML, CSS, and JavaScript, features a responsive chat interface that updates in real-time, maintains chat history,</a:t>
            </a:r>
            <a:r>
              <a:rPr lang="en-US" sz="2000">
                <a:solidFill>
                  <a:srgbClr val="0F4662"/>
                </a:solidFill>
                <a:latin typeface="Quicksand"/>
                <a:ea typeface="Quicksand"/>
                <a:cs typeface="Quicksand"/>
                <a:sym typeface="Quicksand"/>
              </a:rPr>
              <a: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413756" y="-634425"/>
            <a:ext cx="19391348" cy="11776520"/>
            <a:chOff x="0" y="0"/>
            <a:chExt cx="5107186" cy="3101635"/>
          </a:xfrm>
        </p:grpSpPr>
        <p:sp>
          <p:nvSpPr>
            <p:cNvPr name="Freeform 3" id="3"/>
            <p:cNvSpPr/>
            <p:nvPr/>
          </p:nvSpPr>
          <p:spPr>
            <a:xfrm flipH="false" flipV="false" rot="0">
              <a:off x="0" y="0"/>
              <a:ext cx="5107186" cy="3101635"/>
            </a:xfrm>
            <a:custGeom>
              <a:avLst/>
              <a:gdLst/>
              <a:ahLst/>
              <a:cxnLst/>
              <a:rect r="r" b="b" t="t" l="l"/>
              <a:pathLst>
                <a:path h="3101635" w="5107186">
                  <a:moveTo>
                    <a:pt x="0" y="0"/>
                  </a:moveTo>
                  <a:lnTo>
                    <a:pt x="5107186" y="0"/>
                  </a:lnTo>
                  <a:lnTo>
                    <a:pt x="5107186" y="3101635"/>
                  </a:lnTo>
                  <a:lnTo>
                    <a:pt x="0" y="3101635"/>
                  </a:lnTo>
                  <a:close/>
                </a:path>
              </a:pathLst>
            </a:custGeom>
            <a:solidFill>
              <a:srgbClr val="DBE5EA"/>
            </a:solidFill>
          </p:spPr>
        </p:sp>
        <p:sp>
          <p:nvSpPr>
            <p:cNvPr name="TextBox 4" id="4"/>
            <p:cNvSpPr txBox="true"/>
            <p:nvPr/>
          </p:nvSpPr>
          <p:spPr>
            <a:xfrm>
              <a:off x="0" y="-123825"/>
              <a:ext cx="5107186" cy="3225460"/>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9459390" y="356640"/>
            <a:ext cx="8688151" cy="9573721"/>
          </a:xfrm>
          <a:custGeom>
            <a:avLst/>
            <a:gdLst/>
            <a:ahLst/>
            <a:cxnLst/>
            <a:rect r="r" b="b" t="t" l="l"/>
            <a:pathLst>
              <a:path h="9573721" w="8688151">
                <a:moveTo>
                  <a:pt x="0" y="0"/>
                </a:moveTo>
                <a:lnTo>
                  <a:pt x="8688151" y="0"/>
                </a:lnTo>
                <a:lnTo>
                  <a:pt x="8688151" y="9573720"/>
                </a:lnTo>
                <a:lnTo>
                  <a:pt x="0" y="9573720"/>
                </a:lnTo>
                <a:lnTo>
                  <a:pt x="0" y="0"/>
                </a:lnTo>
                <a:close/>
              </a:path>
            </a:pathLst>
          </a:custGeom>
          <a:blipFill>
            <a:blip r:embed="rId2"/>
            <a:stretch>
              <a:fillRect l="0" t="0" r="0" b="0"/>
            </a:stretch>
          </a:blipFill>
        </p:spPr>
      </p:sp>
      <p:sp>
        <p:nvSpPr>
          <p:cNvPr name="TextBox 6" id="6"/>
          <p:cNvSpPr txBox="true"/>
          <p:nvPr/>
        </p:nvSpPr>
        <p:spPr>
          <a:xfrm rot="0">
            <a:off x="1028700" y="3501301"/>
            <a:ext cx="8970395" cy="20288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An input layer that processes text using bag-of-words vectorization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A hidden layer with 8 neurons for pattern recognition</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An output layer that classifies user intents</a:t>
            </a:r>
          </a:p>
        </p:txBody>
      </p:sp>
      <p:sp>
        <p:nvSpPr>
          <p:cNvPr name="TextBox 7" id="7"/>
          <p:cNvSpPr txBox="true"/>
          <p:nvPr/>
        </p:nvSpPr>
        <p:spPr>
          <a:xfrm rot="0">
            <a:off x="1028700" y="2963452"/>
            <a:ext cx="8115300"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The model consists of three main layers:</a:t>
            </a:r>
          </a:p>
        </p:txBody>
      </p:sp>
      <p:sp>
        <p:nvSpPr>
          <p:cNvPr name="TextBox 8" id="8"/>
          <p:cNvSpPr txBox="true"/>
          <p:nvPr/>
        </p:nvSpPr>
        <p:spPr>
          <a:xfrm rot="0">
            <a:off x="1028700" y="1391103"/>
            <a:ext cx="8970395" cy="854075"/>
          </a:xfrm>
          <a:prstGeom prst="rect">
            <a:avLst/>
          </a:prstGeom>
        </p:spPr>
        <p:txBody>
          <a:bodyPr anchor="t" rtlCol="false" tIns="0" lIns="0" bIns="0" rIns="0">
            <a:spAutoFit/>
          </a:bodyPr>
          <a:lstStyle/>
          <a:p>
            <a:pPr algn="l" marL="0" indent="0" lvl="0">
              <a:lnSpc>
                <a:spcPts val="7000"/>
              </a:lnSpc>
              <a:spcBef>
                <a:spcPct val="0"/>
              </a:spcBef>
            </a:pPr>
            <a:r>
              <a:rPr lang="en-US" b="true" sz="5000" i="true">
                <a:solidFill>
                  <a:srgbClr val="0F4662"/>
                </a:solidFill>
                <a:latin typeface="Cormorant Garamond Bold Italics"/>
                <a:ea typeface="Cormorant Garamond Bold Italics"/>
                <a:cs typeface="Cormorant Garamond Bold Italics"/>
                <a:sym typeface="Cormorant Garamond Bold Italics"/>
              </a:rPr>
              <a:t>Neural Network Model</a:t>
            </a:r>
          </a:p>
        </p:txBody>
      </p:sp>
      <p:sp>
        <p:nvSpPr>
          <p:cNvPr name="TextBox 9" id="9"/>
          <p:cNvSpPr txBox="true"/>
          <p:nvPr/>
        </p:nvSpPr>
        <p:spPr>
          <a:xfrm rot="0">
            <a:off x="1028700" y="6248400"/>
            <a:ext cx="8970395" cy="14814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The model works by converting user messages into numerical vectors, which are then processed to identify the user's intent.</a:t>
            </a:r>
          </a:p>
        </p:txBody>
      </p:sp>
      <p:sp>
        <p:nvSpPr>
          <p:cNvPr name="TextBox 10" id="10"/>
          <p:cNvSpPr txBox="true"/>
          <p:nvPr/>
        </p:nvSpPr>
        <p:spPr>
          <a:xfrm rot="0">
            <a:off x="15018878" y="3294512"/>
            <a:ext cx="2313119" cy="370682"/>
          </a:xfrm>
          <a:prstGeom prst="rect">
            <a:avLst/>
          </a:prstGeom>
        </p:spPr>
        <p:txBody>
          <a:bodyPr anchor="t" rtlCol="false" tIns="0" lIns="0" bIns="0" rIns="0">
            <a:spAutoFit/>
          </a:bodyPr>
          <a:lstStyle/>
          <a:p>
            <a:pPr algn="ctr" marL="0" indent="0" lvl="0">
              <a:lnSpc>
                <a:spcPts val="3178"/>
              </a:lnSpc>
            </a:pPr>
            <a:r>
              <a:rPr lang="en-US" sz="1869">
                <a:solidFill>
                  <a:srgbClr val="0F4662"/>
                </a:solidFill>
                <a:latin typeface="Quicksand"/>
                <a:ea typeface="Quicksand"/>
                <a:cs typeface="Quicksand"/>
                <a:sym typeface="Quicksand"/>
              </a:rPr>
              <a:t>Tokenization</a:t>
            </a:r>
          </a:p>
        </p:txBody>
      </p:sp>
      <p:sp>
        <p:nvSpPr>
          <p:cNvPr name="TextBox 11" id="11"/>
          <p:cNvSpPr txBox="true"/>
          <p:nvPr/>
        </p:nvSpPr>
        <p:spPr>
          <a:xfrm rot="0">
            <a:off x="15018878" y="4409807"/>
            <a:ext cx="2313119" cy="370682"/>
          </a:xfrm>
          <a:prstGeom prst="rect">
            <a:avLst/>
          </a:prstGeom>
        </p:spPr>
        <p:txBody>
          <a:bodyPr anchor="t" rtlCol="false" tIns="0" lIns="0" bIns="0" rIns="0">
            <a:spAutoFit/>
          </a:bodyPr>
          <a:lstStyle/>
          <a:p>
            <a:pPr algn="ctr" marL="0" indent="0" lvl="0">
              <a:lnSpc>
                <a:spcPts val="3178"/>
              </a:lnSpc>
            </a:pPr>
            <a:r>
              <a:rPr lang="en-US" sz="1869">
                <a:solidFill>
                  <a:srgbClr val="0F4662"/>
                </a:solidFill>
                <a:latin typeface="Quicksand"/>
                <a:ea typeface="Quicksand"/>
                <a:cs typeface="Quicksand"/>
                <a:sym typeface="Quicksand"/>
              </a:rPr>
              <a:t>Vectorization</a:t>
            </a:r>
          </a:p>
        </p:txBody>
      </p:sp>
      <p:sp>
        <p:nvSpPr>
          <p:cNvPr name="TextBox 12" id="12"/>
          <p:cNvSpPr txBox="true"/>
          <p:nvPr/>
        </p:nvSpPr>
        <p:spPr>
          <a:xfrm rot="0">
            <a:off x="15018878" y="5537680"/>
            <a:ext cx="2313119" cy="370682"/>
          </a:xfrm>
          <a:prstGeom prst="rect">
            <a:avLst/>
          </a:prstGeom>
        </p:spPr>
        <p:txBody>
          <a:bodyPr anchor="t" rtlCol="false" tIns="0" lIns="0" bIns="0" rIns="0">
            <a:spAutoFit/>
          </a:bodyPr>
          <a:lstStyle/>
          <a:p>
            <a:pPr algn="ctr" marL="0" indent="0" lvl="0">
              <a:lnSpc>
                <a:spcPts val="3178"/>
              </a:lnSpc>
            </a:pPr>
            <a:r>
              <a:rPr lang="en-US" sz="1869">
                <a:solidFill>
                  <a:srgbClr val="0F4662"/>
                </a:solidFill>
                <a:latin typeface="Quicksand"/>
                <a:ea typeface="Quicksand"/>
                <a:cs typeface="Quicksand"/>
                <a:sym typeface="Quicksand"/>
              </a:rPr>
              <a:t>Neural Processing</a:t>
            </a:r>
          </a:p>
        </p:txBody>
      </p:sp>
      <p:sp>
        <p:nvSpPr>
          <p:cNvPr name="TextBox 13" id="13"/>
          <p:cNvSpPr txBox="true"/>
          <p:nvPr/>
        </p:nvSpPr>
        <p:spPr>
          <a:xfrm rot="0">
            <a:off x="15018878" y="6575593"/>
            <a:ext cx="2313119" cy="370682"/>
          </a:xfrm>
          <a:prstGeom prst="rect">
            <a:avLst/>
          </a:prstGeom>
        </p:spPr>
        <p:txBody>
          <a:bodyPr anchor="t" rtlCol="false" tIns="0" lIns="0" bIns="0" rIns="0">
            <a:spAutoFit/>
          </a:bodyPr>
          <a:lstStyle/>
          <a:p>
            <a:pPr algn="ctr" marL="0" indent="0" lvl="0">
              <a:lnSpc>
                <a:spcPts val="3178"/>
              </a:lnSpc>
            </a:pPr>
            <a:r>
              <a:rPr lang="en-US" sz="1869">
                <a:solidFill>
                  <a:srgbClr val="0F4662"/>
                </a:solidFill>
                <a:latin typeface="Quicksand"/>
                <a:ea typeface="Quicksand"/>
                <a:cs typeface="Quicksand"/>
                <a:sym typeface="Quicksand"/>
              </a:rPr>
              <a:t>Intent Identification</a:t>
            </a:r>
          </a:p>
        </p:txBody>
      </p:sp>
      <p:sp>
        <p:nvSpPr>
          <p:cNvPr name="TextBox 14" id="14"/>
          <p:cNvSpPr txBox="true"/>
          <p:nvPr/>
        </p:nvSpPr>
        <p:spPr>
          <a:xfrm rot="0">
            <a:off x="15018878" y="7457377"/>
            <a:ext cx="2313119" cy="370682"/>
          </a:xfrm>
          <a:prstGeom prst="rect">
            <a:avLst/>
          </a:prstGeom>
        </p:spPr>
        <p:txBody>
          <a:bodyPr anchor="t" rtlCol="false" tIns="0" lIns="0" bIns="0" rIns="0">
            <a:spAutoFit/>
          </a:bodyPr>
          <a:lstStyle/>
          <a:p>
            <a:pPr algn="ctr" marL="0" indent="0" lvl="0">
              <a:lnSpc>
                <a:spcPts val="3178"/>
              </a:lnSpc>
            </a:pPr>
            <a:r>
              <a:rPr lang="en-US" sz="1869">
                <a:solidFill>
                  <a:srgbClr val="0F4662"/>
                </a:solidFill>
                <a:latin typeface="Quicksand"/>
                <a:ea typeface="Quicksand"/>
                <a:cs typeface="Quicksand"/>
                <a:sym typeface="Quicksand"/>
              </a:rPr>
              <a:t>Response Selection</a:t>
            </a:r>
          </a:p>
        </p:txBody>
      </p:sp>
      <p:sp>
        <p:nvSpPr>
          <p:cNvPr name="TextBox 15" id="15"/>
          <p:cNvSpPr txBox="true"/>
          <p:nvPr/>
        </p:nvSpPr>
        <p:spPr>
          <a:xfrm rot="0">
            <a:off x="10674890" y="1749193"/>
            <a:ext cx="2764700" cy="483980"/>
          </a:xfrm>
          <a:prstGeom prst="rect">
            <a:avLst/>
          </a:prstGeom>
        </p:spPr>
        <p:txBody>
          <a:bodyPr anchor="t" rtlCol="false" tIns="0" lIns="0" bIns="0" rIns="0">
            <a:spAutoFit/>
          </a:bodyPr>
          <a:lstStyle/>
          <a:p>
            <a:pPr algn="ctr" marL="0" indent="0" lvl="0">
              <a:lnSpc>
                <a:spcPts val="4026"/>
              </a:lnSpc>
            </a:pPr>
            <a:r>
              <a:rPr lang="en-US" sz="2368">
                <a:solidFill>
                  <a:srgbClr val="0F4662"/>
                </a:solidFill>
                <a:latin typeface="Quicksand"/>
                <a:ea typeface="Quicksand"/>
                <a:cs typeface="Quicksand"/>
                <a:sym typeface="Quicksand"/>
              </a:rPr>
              <a:t>Incoming Message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413756" y="-634425"/>
            <a:ext cx="19391348" cy="11776520"/>
            <a:chOff x="0" y="0"/>
            <a:chExt cx="5107186" cy="3101635"/>
          </a:xfrm>
        </p:grpSpPr>
        <p:sp>
          <p:nvSpPr>
            <p:cNvPr name="Freeform 3" id="3"/>
            <p:cNvSpPr/>
            <p:nvPr/>
          </p:nvSpPr>
          <p:spPr>
            <a:xfrm flipH="false" flipV="false" rot="0">
              <a:off x="0" y="0"/>
              <a:ext cx="5107186" cy="3101635"/>
            </a:xfrm>
            <a:custGeom>
              <a:avLst/>
              <a:gdLst/>
              <a:ahLst/>
              <a:cxnLst/>
              <a:rect r="r" b="b" t="t" l="l"/>
              <a:pathLst>
                <a:path h="3101635" w="5107186">
                  <a:moveTo>
                    <a:pt x="0" y="0"/>
                  </a:moveTo>
                  <a:lnTo>
                    <a:pt x="5107186" y="0"/>
                  </a:lnTo>
                  <a:lnTo>
                    <a:pt x="5107186" y="3101635"/>
                  </a:lnTo>
                  <a:lnTo>
                    <a:pt x="0" y="3101635"/>
                  </a:lnTo>
                  <a:close/>
                </a:path>
              </a:pathLst>
            </a:custGeom>
            <a:solidFill>
              <a:srgbClr val="DBE5EA"/>
            </a:solidFill>
          </p:spPr>
        </p:sp>
        <p:sp>
          <p:nvSpPr>
            <p:cNvPr name="TextBox 4" id="4"/>
            <p:cNvSpPr txBox="true"/>
            <p:nvPr/>
          </p:nvSpPr>
          <p:spPr>
            <a:xfrm>
              <a:off x="0" y="-123825"/>
              <a:ext cx="5107186" cy="3225460"/>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10662690" y="2215263"/>
            <a:ext cx="6284736" cy="5856474"/>
          </a:xfrm>
          <a:custGeom>
            <a:avLst/>
            <a:gdLst/>
            <a:ahLst/>
            <a:cxnLst/>
            <a:rect r="r" b="b" t="t" l="l"/>
            <a:pathLst>
              <a:path h="5856474" w="6284736">
                <a:moveTo>
                  <a:pt x="0" y="0"/>
                </a:moveTo>
                <a:lnTo>
                  <a:pt x="6284735" y="0"/>
                </a:lnTo>
                <a:lnTo>
                  <a:pt x="6284735" y="5856474"/>
                </a:lnTo>
                <a:lnTo>
                  <a:pt x="0" y="5856474"/>
                </a:lnTo>
                <a:lnTo>
                  <a:pt x="0" y="0"/>
                </a:lnTo>
                <a:close/>
              </a:path>
            </a:pathLst>
          </a:custGeom>
          <a:blipFill>
            <a:blip r:embed="rId2"/>
            <a:stretch>
              <a:fillRect l="0" t="0" r="0" b="0"/>
            </a:stretch>
          </a:blipFill>
        </p:spPr>
      </p:sp>
      <p:sp>
        <p:nvSpPr>
          <p:cNvPr name="TextBox 6" id="6"/>
          <p:cNvSpPr txBox="true"/>
          <p:nvPr/>
        </p:nvSpPr>
        <p:spPr>
          <a:xfrm rot="0">
            <a:off x="890781" y="1618249"/>
            <a:ext cx="4028893" cy="596900"/>
          </a:xfrm>
          <a:prstGeom prst="rect">
            <a:avLst/>
          </a:prstGeom>
        </p:spPr>
        <p:txBody>
          <a:bodyPr anchor="t" rtlCol="false" tIns="0" lIns="0" bIns="0" rIns="0">
            <a:spAutoFit/>
          </a:bodyPr>
          <a:lstStyle/>
          <a:p>
            <a:pPr algn="l">
              <a:lnSpc>
                <a:spcPts val="4900"/>
              </a:lnSpc>
              <a:spcBef>
                <a:spcPct val="0"/>
              </a:spcBef>
            </a:pPr>
            <a:r>
              <a:rPr lang="en-US" b="true" sz="3500">
                <a:solidFill>
                  <a:srgbClr val="0F4662"/>
                </a:solidFill>
                <a:latin typeface="Quicksand Bold"/>
                <a:ea typeface="Quicksand Bold"/>
                <a:cs typeface="Quicksand Bold"/>
                <a:sym typeface="Quicksand Bold"/>
              </a:rPr>
              <a:t>1.</a:t>
            </a:r>
            <a:r>
              <a:rPr lang="en-US" b="true" sz="3500">
                <a:solidFill>
                  <a:srgbClr val="DBE5EA"/>
                </a:solidFill>
                <a:latin typeface="Quicksand Bold"/>
                <a:ea typeface="Quicksand Bold"/>
                <a:cs typeface="Quicksand Bold"/>
                <a:sym typeface="Quicksand Bold"/>
              </a:rPr>
              <a:t>a</a:t>
            </a:r>
            <a:r>
              <a:rPr lang="en-US" b="true" sz="3500">
                <a:solidFill>
                  <a:srgbClr val="0F4662"/>
                </a:solidFill>
                <a:latin typeface="Quicksand Bold"/>
                <a:ea typeface="Quicksand Bold"/>
                <a:cs typeface="Quicksand Bold"/>
                <a:sym typeface="Quicksand Bold"/>
              </a:rPr>
              <a:t>Database:</a:t>
            </a:r>
          </a:p>
        </p:txBody>
      </p:sp>
      <p:sp>
        <p:nvSpPr>
          <p:cNvPr name="TextBox 7" id="7"/>
          <p:cNvSpPr txBox="true"/>
          <p:nvPr/>
        </p:nvSpPr>
        <p:spPr>
          <a:xfrm rot="0">
            <a:off x="890781" y="2964056"/>
            <a:ext cx="8253219" cy="1514475"/>
          </a:xfrm>
          <a:prstGeom prst="rect">
            <a:avLst/>
          </a:prstGeom>
        </p:spPr>
        <p:txBody>
          <a:bodyPr anchor="t" rtlCol="false" tIns="0" lIns="0" bIns="0" rIns="0">
            <a:spAutoFit/>
          </a:bodyPr>
          <a:lstStyle/>
          <a:p>
            <a:pPr algn="l" marL="0" indent="0" lvl="0">
              <a:lnSpc>
                <a:spcPts val="4079"/>
              </a:lnSpc>
            </a:pPr>
            <a:r>
              <a:rPr lang="en-US" sz="2400">
                <a:solidFill>
                  <a:srgbClr val="0F4662"/>
                </a:solidFill>
                <a:latin typeface="Quicksand"/>
                <a:ea typeface="Quicksand"/>
                <a:cs typeface="Quicksand"/>
                <a:sym typeface="Quicksand"/>
              </a:rPr>
              <a:t>A chatbot framework needs a structure in which conversational intents are defined. One clean way to do this is with a JSON file.</a:t>
            </a:r>
          </a:p>
        </p:txBody>
      </p:sp>
      <p:sp>
        <p:nvSpPr>
          <p:cNvPr name="TextBox 8" id="8"/>
          <p:cNvSpPr txBox="true"/>
          <p:nvPr/>
        </p:nvSpPr>
        <p:spPr>
          <a:xfrm rot="0">
            <a:off x="890781" y="4969956"/>
            <a:ext cx="8253219" cy="3057525"/>
          </a:xfrm>
          <a:prstGeom prst="rect">
            <a:avLst/>
          </a:prstGeom>
        </p:spPr>
        <p:txBody>
          <a:bodyPr anchor="t" rtlCol="false" tIns="0" lIns="0" bIns="0" rIns="0">
            <a:spAutoFit/>
          </a:bodyPr>
          <a:lstStyle/>
          <a:p>
            <a:pPr algn="l">
              <a:lnSpc>
                <a:spcPts val="4079"/>
              </a:lnSpc>
            </a:pPr>
            <a:r>
              <a:rPr lang="en-US" sz="2400" spc="-7">
                <a:solidFill>
                  <a:srgbClr val="0F4662"/>
                </a:solidFill>
                <a:latin typeface="Quicksand"/>
                <a:ea typeface="Quicksand"/>
                <a:cs typeface="Quicksand"/>
                <a:sym typeface="Quicksand"/>
              </a:rPr>
              <a:t>Each conversational intent contains:</a:t>
            </a:r>
          </a:p>
          <a:p>
            <a:pPr algn="l" marL="518160" indent="-259080" lvl="1">
              <a:lnSpc>
                <a:spcPts val="4079"/>
              </a:lnSpc>
              <a:buFont typeface="Arial"/>
              <a:buChar char="•"/>
            </a:pPr>
            <a:r>
              <a:rPr lang="en-US" sz="2400" spc="-7">
                <a:solidFill>
                  <a:srgbClr val="0F4662"/>
                </a:solidFill>
                <a:latin typeface="Quicksand"/>
                <a:ea typeface="Quicksand"/>
                <a:cs typeface="Quicksand"/>
                <a:sym typeface="Quicksand"/>
              </a:rPr>
              <a:t>a tag (a unique name)</a:t>
            </a:r>
          </a:p>
          <a:p>
            <a:pPr algn="l" marL="518160" indent="-259080" lvl="1">
              <a:lnSpc>
                <a:spcPts val="4079"/>
              </a:lnSpc>
              <a:buFont typeface="Arial"/>
              <a:buChar char="•"/>
            </a:pPr>
            <a:r>
              <a:rPr lang="en-US" sz="2400" spc="-7">
                <a:solidFill>
                  <a:srgbClr val="0F4662"/>
                </a:solidFill>
                <a:latin typeface="Quicksand"/>
                <a:ea typeface="Quicksand"/>
                <a:cs typeface="Quicksand"/>
                <a:sym typeface="Quicksand"/>
              </a:rPr>
              <a:t>patterns (sentence patterns for our neural network text classifier)</a:t>
            </a:r>
          </a:p>
          <a:p>
            <a:pPr algn="l" marL="518160" indent="-259080" lvl="1">
              <a:lnSpc>
                <a:spcPts val="4079"/>
              </a:lnSpc>
              <a:buFont typeface="Arial"/>
              <a:buChar char="•"/>
            </a:pPr>
            <a:r>
              <a:rPr lang="en-US" sz="2400" spc="-7">
                <a:solidFill>
                  <a:srgbClr val="0F4662"/>
                </a:solidFill>
                <a:latin typeface="Quicksand"/>
                <a:ea typeface="Quicksand"/>
                <a:cs typeface="Quicksand"/>
                <a:sym typeface="Quicksand"/>
              </a:rPr>
              <a:t>responses (one will be used as a response)</a:t>
            </a:r>
          </a:p>
          <a:p>
            <a:pPr algn="l" marL="0" indent="0" lvl="0">
              <a:lnSpc>
                <a:spcPts val="407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413756" y="-634425"/>
            <a:ext cx="19391348" cy="11776520"/>
            <a:chOff x="0" y="0"/>
            <a:chExt cx="5107186" cy="3101635"/>
          </a:xfrm>
        </p:grpSpPr>
        <p:sp>
          <p:nvSpPr>
            <p:cNvPr name="Freeform 3" id="3"/>
            <p:cNvSpPr/>
            <p:nvPr/>
          </p:nvSpPr>
          <p:spPr>
            <a:xfrm flipH="false" flipV="false" rot="0">
              <a:off x="0" y="0"/>
              <a:ext cx="5107186" cy="3101635"/>
            </a:xfrm>
            <a:custGeom>
              <a:avLst/>
              <a:gdLst/>
              <a:ahLst/>
              <a:cxnLst/>
              <a:rect r="r" b="b" t="t" l="l"/>
              <a:pathLst>
                <a:path h="3101635" w="5107186">
                  <a:moveTo>
                    <a:pt x="0" y="0"/>
                  </a:moveTo>
                  <a:lnTo>
                    <a:pt x="5107186" y="0"/>
                  </a:lnTo>
                  <a:lnTo>
                    <a:pt x="5107186" y="3101635"/>
                  </a:lnTo>
                  <a:lnTo>
                    <a:pt x="0" y="3101635"/>
                  </a:lnTo>
                  <a:close/>
                </a:path>
              </a:pathLst>
            </a:custGeom>
            <a:solidFill>
              <a:srgbClr val="DBE5EA"/>
            </a:solidFill>
          </p:spPr>
        </p:sp>
        <p:sp>
          <p:nvSpPr>
            <p:cNvPr name="TextBox 4" id="4"/>
            <p:cNvSpPr txBox="true"/>
            <p:nvPr/>
          </p:nvSpPr>
          <p:spPr>
            <a:xfrm>
              <a:off x="0" y="-123825"/>
              <a:ext cx="5107186" cy="3225460"/>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10397787" y="2215149"/>
            <a:ext cx="7282775" cy="6117531"/>
          </a:xfrm>
          <a:custGeom>
            <a:avLst/>
            <a:gdLst/>
            <a:ahLst/>
            <a:cxnLst/>
            <a:rect r="r" b="b" t="t" l="l"/>
            <a:pathLst>
              <a:path h="6117531" w="7282775">
                <a:moveTo>
                  <a:pt x="0" y="0"/>
                </a:moveTo>
                <a:lnTo>
                  <a:pt x="7282775" y="0"/>
                </a:lnTo>
                <a:lnTo>
                  <a:pt x="7282775" y="6117531"/>
                </a:lnTo>
                <a:lnTo>
                  <a:pt x="0" y="6117531"/>
                </a:lnTo>
                <a:lnTo>
                  <a:pt x="0" y="0"/>
                </a:lnTo>
                <a:close/>
              </a:path>
            </a:pathLst>
          </a:custGeom>
          <a:blipFill>
            <a:blip r:embed="rId2"/>
            <a:stretch>
              <a:fillRect l="0" t="0" r="0" b="0"/>
            </a:stretch>
          </a:blipFill>
        </p:spPr>
      </p:sp>
      <p:sp>
        <p:nvSpPr>
          <p:cNvPr name="TextBox 6" id="6"/>
          <p:cNvSpPr txBox="true"/>
          <p:nvPr/>
        </p:nvSpPr>
        <p:spPr>
          <a:xfrm rot="0">
            <a:off x="890781" y="1618249"/>
            <a:ext cx="4028893" cy="596900"/>
          </a:xfrm>
          <a:prstGeom prst="rect">
            <a:avLst/>
          </a:prstGeom>
        </p:spPr>
        <p:txBody>
          <a:bodyPr anchor="t" rtlCol="false" tIns="0" lIns="0" bIns="0" rIns="0">
            <a:spAutoFit/>
          </a:bodyPr>
          <a:lstStyle/>
          <a:p>
            <a:pPr algn="l">
              <a:lnSpc>
                <a:spcPts val="4900"/>
              </a:lnSpc>
              <a:spcBef>
                <a:spcPct val="0"/>
              </a:spcBef>
            </a:pPr>
            <a:r>
              <a:rPr lang="en-US" b="true" sz="3500">
                <a:solidFill>
                  <a:srgbClr val="0F4662"/>
                </a:solidFill>
                <a:latin typeface="Quicksand Bold"/>
                <a:ea typeface="Quicksand Bold"/>
                <a:cs typeface="Quicksand Bold"/>
                <a:sym typeface="Quicksand Bold"/>
              </a:rPr>
              <a:t>2.  Data Handling:</a:t>
            </a:r>
          </a:p>
        </p:txBody>
      </p:sp>
      <p:sp>
        <p:nvSpPr>
          <p:cNvPr name="TextBox 7" id="7"/>
          <p:cNvSpPr txBox="true"/>
          <p:nvPr/>
        </p:nvSpPr>
        <p:spPr>
          <a:xfrm rot="0">
            <a:off x="890781" y="2964056"/>
            <a:ext cx="8253219" cy="6143625"/>
          </a:xfrm>
          <a:prstGeom prst="rect">
            <a:avLst/>
          </a:prstGeom>
        </p:spPr>
        <p:txBody>
          <a:bodyPr anchor="t" rtlCol="false" tIns="0" lIns="0" bIns="0" rIns="0">
            <a:spAutoFit/>
          </a:bodyPr>
          <a:lstStyle/>
          <a:p>
            <a:pPr algn="l">
              <a:lnSpc>
                <a:spcPts val="4079"/>
              </a:lnSpc>
            </a:pPr>
            <a:r>
              <a:rPr lang="en-US" sz="2400" b="true">
                <a:solidFill>
                  <a:srgbClr val="0F4662"/>
                </a:solidFill>
                <a:latin typeface="Quicksand Bold"/>
                <a:ea typeface="Quicksand Bold"/>
                <a:cs typeface="Quicksand Bold"/>
                <a:sym typeface="Quicksand Bold"/>
              </a:rPr>
              <a:t>a- Tokenization:</a:t>
            </a:r>
            <a:r>
              <a:rPr lang="en-US" sz="2400">
                <a:solidFill>
                  <a:srgbClr val="0F4662"/>
                </a:solidFill>
                <a:latin typeface="Quicksand"/>
                <a:ea typeface="Quicksand"/>
                <a:cs typeface="Quicksand"/>
                <a:sym typeface="Quicksand"/>
              </a:rPr>
              <a:t> </a:t>
            </a:r>
          </a:p>
          <a:p>
            <a:pPr algn="l">
              <a:lnSpc>
                <a:spcPts val="4079"/>
              </a:lnSpc>
            </a:pPr>
            <a:r>
              <a:rPr lang="en-US" sz="2400">
                <a:solidFill>
                  <a:srgbClr val="0F4662"/>
                </a:solidFill>
                <a:latin typeface="Quicksand"/>
                <a:ea typeface="Quicksand"/>
                <a:cs typeface="Quicksand"/>
                <a:sym typeface="Quicksand"/>
              </a:rPr>
              <a:t>the process of breaking text into smaller units, such as words or sentences.</a:t>
            </a:r>
          </a:p>
          <a:p>
            <a:pPr algn="l">
              <a:lnSpc>
                <a:spcPts val="4079"/>
              </a:lnSpc>
            </a:pPr>
            <a:r>
              <a:rPr lang="en-US" sz="2400" b="true">
                <a:solidFill>
                  <a:srgbClr val="0F4662"/>
                </a:solidFill>
                <a:latin typeface="Quicksand Bold"/>
                <a:ea typeface="Quicksand Bold"/>
                <a:cs typeface="Quicksand Bold"/>
                <a:sym typeface="Quicksand Bold"/>
              </a:rPr>
              <a:t>b- Lowering + stemming:</a:t>
            </a:r>
          </a:p>
          <a:p>
            <a:pPr algn="l">
              <a:lnSpc>
                <a:spcPts val="4079"/>
              </a:lnSpc>
            </a:pPr>
            <a:r>
              <a:rPr lang="en-US" sz="2400">
                <a:solidFill>
                  <a:srgbClr val="0F4662"/>
                </a:solidFill>
                <a:latin typeface="Quicksand"/>
                <a:ea typeface="Quicksand"/>
                <a:cs typeface="Quicksand"/>
                <a:sym typeface="Quicksand"/>
              </a:rPr>
              <a:t>the process of converting all text to lowercase and reducing words to their root form by removing suffixes.</a:t>
            </a:r>
          </a:p>
          <a:p>
            <a:pPr algn="l">
              <a:lnSpc>
                <a:spcPts val="4079"/>
              </a:lnSpc>
            </a:pPr>
            <a:r>
              <a:rPr lang="en-US" sz="2400" b="true">
                <a:solidFill>
                  <a:srgbClr val="0F4662"/>
                </a:solidFill>
                <a:latin typeface="Quicksand Bold"/>
                <a:ea typeface="Quicksand Bold"/>
                <a:cs typeface="Quicksand Bold"/>
                <a:sym typeface="Quicksand Bold"/>
              </a:rPr>
              <a:t>c- Excluding punctuation:</a:t>
            </a:r>
          </a:p>
          <a:p>
            <a:pPr algn="l">
              <a:lnSpc>
                <a:spcPts val="4079"/>
              </a:lnSpc>
            </a:pPr>
            <a:r>
              <a:rPr lang="en-US" sz="2400">
                <a:solidFill>
                  <a:srgbClr val="0F4662"/>
                </a:solidFill>
                <a:latin typeface="Quicksand"/>
                <a:ea typeface="Quicksand"/>
                <a:cs typeface="Quicksand"/>
                <a:sym typeface="Quicksand"/>
              </a:rPr>
              <a:t>the process of removing punctuation marks from text.</a:t>
            </a:r>
          </a:p>
          <a:p>
            <a:pPr algn="l">
              <a:lnSpc>
                <a:spcPts val="4079"/>
              </a:lnSpc>
            </a:pPr>
            <a:r>
              <a:rPr lang="en-US" sz="2400" b="true">
                <a:solidFill>
                  <a:srgbClr val="0F4662"/>
                </a:solidFill>
                <a:latin typeface="Quicksand Bold"/>
                <a:ea typeface="Quicksand Bold"/>
                <a:cs typeface="Quicksand Bold"/>
                <a:sym typeface="Quicksand Bold"/>
              </a:rPr>
              <a:t>d-Bag of words:</a:t>
            </a:r>
          </a:p>
          <a:p>
            <a:pPr algn="l" marL="0" indent="0" lvl="0">
              <a:lnSpc>
                <a:spcPts val="4079"/>
              </a:lnSpc>
            </a:pPr>
            <a:r>
              <a:rPr lang="en-US" sz="2400">
                <a:solidFill>
                  <a:srgbClr val="0F4662"/>
                </a:solidFill>
                <a:latin typeface="Quicksand"/>
                <a:ea typeface="Quicksand"/>
                <a:cs typeface="Quicksand"/>
                <a:sym typeface="Quicksand"/>
              </a:rPr>
              <a:t>a text representation technique that converts a document into a set of word frequencies, ignoring grammar and word order.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413756" y="-634425"/>
            <a:ext cx="19391348" cy="11776520"/>
            <a:chOff x="0" y="0"/>
            <a:chExt cx="5107186" cy="3101635"/>
          </a:xfrm>
        </p:grpSpPr>
        <p:sp>
          <p:nvSpPr>
            <p:cNvPr name="Freeform 3" id="3"/>
            <p:cNvSpPr/>
            <p:nvPr/>
          </p:nvSpPr>
          <p:spPr>
            <a:xfrm flipH="false" flipV="false" rot="0">
              <a:off x="0" y="0"/>
              <a:ext cx="5107186" cy="3101635"/>
            </a:xfrm>
            <a:custGeom>
              <a:avLst/>
              <a:gdLst/>
              <a:ahLst/>
              <a:cxnLst/>
              <a:rect r="r" b="b" t="t" l="l"/>
              <a:pathLst>
                <a:path h="3101635" w="5107186">
                  <a:moveTo>
                    <a:pt x="0" y="0"/>
                  </a:moveTo>
                  <a:lnTo>
                    <a:pt x="5107186" y="0"/>
                  </a:lnTo>
                  <a:lnTo>
                    <a:pt x="5107186" y="3101635"/>
                  </a:lnTo>
                  <a:lnTo>
                    <a:pt x="0" y="3101635"/>
                  </a:lnTo>
                  <a:close/>
                </a:path>
              </a:pathLst>
            </a:custGeom>
            <a:solidFill>
              <a:srgbClr val="DBE5EA"/>
            </a:solidFill>
          </p:spPr>
        </p:sp>
        <p:sp>
          <p:nvSpPr>
            <p:cNvPr name="TextBox 4" id="4"/>
            <p:cNvSpPr txBox="true"/>
            <p:nvPr/>
          </p:nvSpPr>
          <p:spPr>
            <a:xfrm>
              <a:off x="0" y="-123825"/>
              <a:ext cx="5107186" cy="3225460"/>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2574717" y="1699018"/>
            <a:ext cx="13414403" cy="7109634"/>
          </a:xfrm>
          <a:custGeom>
            <a:avLst/>
            <a:gdLst/>
            <a:ahLst/>
            <a:cxnLst/>
            <a:rect r="r" b="b" t="t" l="l"/>
            <a:pathLst>
              <a:path h="7109634" w="13414403">
                <a:moveTo>
                  <a:pt x="0" y="0"/>
                </a:moveTo>
                <a:lnTo>
                  <a:pt x="13414403" y="0"/>
                </a:lnTo>
                <a:lnTo>
                  <a:pt x="13414403" y="7109634"/>
                </a:lnTo>
                <a:lnTo>
                  <a:pt x="0" y="7109634"/>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413756" y="-634425"/>
            <a:ext cx="19391348" cy="11776520"/>
            <a:chOff x="0" y="0"/>
            <a:chExt cx="5107186" cy="3101635"/>
          </a:xfrm>
        </p:grpSpPr>
        <p:sp>
          <p:nvSpPr>
            <p:cNvPr name="Freeform 3" id="3"/>
            <p:cNvSpPr/>
            <p:nvPr/>
          </p:nvSpPr>
          <p:spPr>
            <a:xfrm flipH="false" flipV="false" rot="0">
              <a:off x="0" y="0"/>
              <a:ext cx="5107186" cy="3101635"/>
            </a:xfrm>
            <a:custGeom>
              <a:avLst/>
              <a:gdLst/>
              <a:ahLst/>
              <a:cxnLst/>
              <a:rect r="r" b="b" t="t" l="l"/>
              <a:pathLst>
                <a:path h="3101635" w="5107186">
                  <a:moveTo>
                    <a:pt x="0" y="0"/>
                  </a:moveTo>
                  <a:lnTo>
                    <a:pt x="5107186" y="0"/>
                  </a:lnTo>
                  <a:lnTo>
                    <a:pt x="5107186" y="3101635"/>
                  </a:lnTo>
                  <a:lnTo>
                    <a:pt x="0" y="3101635"/>
                  </a:lnTo>
                  <a:close/>
                </a:path>
              </a:pathLst>
            </a:custGeom>
            <a:solidFill>
              <a:srgbClr val="DBE5EA"/>
            </a:solidFill>
          </p:spPr>
        </p:sp>
        <p:sp>
          <p:nvSpPr>
            <p:cNvPr name="TextBox 4" id="4"/>
            <p:cNvSpPr txBox="true"/>
            <p:nvPr/>
          </p:nvSpPr>
          <p:spPr>
            <a:xfrm>
              <a:off x="0" y="-123825"/>
              <a:ext cx="5107186" cy="3225460"/>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9144000" y="2681269"/>
            <a:ext cx="8658395" cy="4924462"/>
          </a:xfrm>
          <a:custGeom>
            <a:avLst/>
            <a:gdLst/>
            <a:ahLst/>
            <a:cxnLst/>
            <a:rect r="r" b="b" t="t" l="l"/>
            <a:pathLst>
              <a:path h="4924462" w="8658395">
                <a:moveTo>
                  <a:pt x="0" y="0"/>
                </a:moveTo>
                <a:lnTo>
                  <a:pt x="8658395" y="0"/>
                </a:lnTo>
                <a:lnTo>
                  <a:pt x="8658395" y="4924462"/>
                </a:lnTo>
                <a:lnTo>
                  <a:pt x="0" y="4924462"/>
                </a:lnTo>
                <a:lnTo>
                  <a:pt x="0" y="0"/>
                </a:lnTo>
                <a:close/>
              </a:path>
            </a:pathLst>
          </a:custGeom>
          <a:blipFill>
            <a:blip r:embed="rId2"/>
            <a:stretch>
              <a:fillRect l="0" t="0" r="0" b="0"/>
            </a:stretch>
          </a:blipFill>
        </p:spPr>
      </p:sp>
      <p:sp>
        <p:nvSpPr>
          <p:cNvPr name="TextBox 6" id="6"/>
          <p:cNvSpPr txBox="true"/>
          <p:nvPr/>
        </p:nvSpPr>
        <p:spPr>
          <a:xfrm rot="0">
            <a:off x="890781" y="696913"/>
            <a:ext cx="5667713" cy="596900"/>
          </a:xfrm>
          <a:prstGeom prst="rect">
            <a:avLst/>
          </a:prstGeom>
        </p:spPr>
        <p:txBody>
          <a:bodyPr anchor="t" rtlCol="false" tIns="0" lIns="0" bIns="0" rIns="0">
            <a:spAutoFit/>
          </a:bodyPr>
          <a:lstStyle/>
          <a:p>
            <a:pPr algn="l">
              <a:lnSpc>
                <a:spcPts val="4900"/>
              </a:lnSpc>
              <a:spcBef>
                <a:spcPct val="0"/>
              </a:spcBef>
            </a:pPr>
            <a:r>
              <a:rPr lang="en-US" b="true" sz="3500">
                <a:solidFill>
                  <a:srgbClr val="0F4662"/>
                </a:solidFill>
                <a:latin typeface="Quicksand Bold"/>
                <a:ea typeface="Quicksand Bold"/>
                <a:cs typeface="Quicksand Bold"/>
                <a:sym typeface="Quicksand Bold"/>
              </a:rPr>
              <a:t>2.  Neural network layers:</a:t>
            </a:r>
          </a:p>
        </p:txBody>
      </p:sp>
      <p:sp>
        <p:nvSpPr>
          <p:cNvPr name="TextBox 7" id="7"/>
          <p:cNvSpPr txBox="true"/>
          <p:nvPr/>
        </p:nvSpPr>
        <p:spPr>
          <a:xfrm rot="0">
            <a:off x="890781" y="1561099"/>
            <a:ext cx="7955251" cy="82010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At this stage, I built the neural network with its 3 layers,.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I used </a:t>
            </a:r>
            <a:r>
              <a:rPr lang="en-US" sz="2400" u="sng">
                <a:solidFill>
                  <a:srgbClr val="0F4662"/>
                </a:solidFill>
                <a:latin typeface="Quicksand"/>
                <a:ea typeface="Quicksand"/>
                <a:cs typeface="Quicksand"/>
                <a:sym typeface="Quicksand"/>
              </a:rPr>
              <a:t>ReLU</a:t>
            </a:r>
            <a:r>
              <a:rPr lang="en-US" sz="2400">
                <a:solidFill>
                  <a:srgbClr val="0F4662"/>
                </a:solidFill>
                <a:latin typeface="Quicksand"/>
                <a:ea typeface="Quicksand"/>
                <a:cs typeface="Quicksand"/>
                <a:sym typeface="Quicksand"/>
              </a:rPr>
              <a:t> (Rectified Linear Unit) in my NLP chatbot because it’s a widely-used activation function in neural networks, including those for NLP tasks.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I used </a:t>
            </a:r>
            <a:r>
              <a:rPr lang="en-US" sz="2400" u="sng">
                <a:solidFill>
                  <a:srgbClr val="0F4662"/>
                </a:solidFill>
                <a:latin typeface="Quicksand"/>
                <a:ea typeface="Quicksand"/>
                <a:cs typeface="Quicksand"/>
                <a:sym typeface="Quicksand"/>
              </a:rPr>
              <a:t>DataLoader</a:t>
            </a:r>
            <a:r>
              <a:rPr lang="en-US" sz="2400">
                <a:solidFill>
                  <a:srgbClr val="0F4662"/>
                </a:solidFill>
                <a:latin typeface="Quicksand"/>
                <a:ea typeface="Quicksand"/>
                <a:cs typeface="Quicksand"/>
                <a:sym typeface="Quicksand"/>
              </a:rPr>
              <a:t>, which helped you efficiently load data in mini-batches, shuffle it, and optimize training.</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I faced challenges with Model Training Optimization, so I tried finding the optimal </a:t>
            </a:r>
            <a:r>
              <a:rPr lang="en-US" sz="2400" u="sng">
                <a:solidFill>
                  <a:srgbClr val="0F4662"/>
                </a:solidFill>
                <a:latin typeface="Quicksand"/>
                <a:ea typeface="Quicksand"/>
                <a:cs typeface="Quicksand"/>
                <a:sym typeface="Quicksand"/>
              </a:rPr>
              <a:t>hyperparameters</a:t>
            </a:r>
            <a:r>
              <a:rPr lang="en-US" sz="2400">
                <a:solidFill>
                  <a:srgbClr val="0F4662"/>
                </a:solidFill>
                <a:latin typeface="Quicksand"/>
                <a:ea typeface="Quicksand"/>
                <a:cs typeface="Quicksand"/>
                <a:sym typeface="Quicksand"/>
              </a:rPr>
              <a:t> by changing learning rate, batch size, number of hidden units to find values that lead to the best performance.</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The metric used to calculate the error during training is </a:t>
            </a:r>
            <a:r>
              <a:rPr lang="en-US" sz="2400" u="sng">
                <a:solidFill>
                  <a:srgbClr val="0F4662"/>
                </a:solidFill>
                <a:latin typeface="Quicksand"/>
                <a:ea typeface="Quicksand"/>
                <a:cs typeface="Quicksand"/>
                <a:sym typeface="Quicksand"/>
              </a:rPr>
              <a:t>Cross-Entropy Loss</a:t>
            </a:r>
            <a:r>
              <a:rPr lang="en-US" sz="2400">
                <a:solidFill>
                  <a:srgbClr val="0F4662"/>
                </a:solidFill>
                <a:latin typeface="Quicksand"/>
                <a:ea typeface="Quicksand"/>
                <a:cs typeface="Quicksand"/>
                <a:sym typeface="Quicksand"/>
              </a:rPr>
              <a:t>, since this is a multi-class classification problem</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413756" y="-634425"/>
            <a:ext cx="19391348" cy="11776520"/>
            <a:chOff x="0" y="0"/>
            <a:chExt cx="5107186" cy="3101635"/>
          </a:xfrm>
        </p:grpSpPr>
        <p:sp>
          <p:nvSpPr>
            <p:cNvPr name="Freeform 3" id="3"/>
            <p:cNvSpPr/>
            <p:nvPr/>
          </p:nvSpPr>
          <p:spPr>
            <a:xfrm flipH="false" flipV="false" rot="0">
              <a:off x="0" y="0"/>
              <a:ext cx="5107186" cy="3101635"/>
            </a:xfrm>
            <a:custGeom>
              <a:avLst/>
              <a:gdLst/>
              <a:ahLst/>
              <a:cxnLst/>
              <a:rect r="r" b="b" t="t" l="l"/>
              <a:pathLst>
                <a:path h="3101635" w="5107186">
                  <a:moveTo>
                    <a:pt x="0" y="0"/>
                  </a:moveTo>
                  <a:lnTo>
                    <a:pt x="5107186" y="0"/>
                  </a:lnTo>
                  <a:lnTo>
                    <a:pt x="5107186" y="3101635"/>
                  </a:lnTo>
                  <a:lnTo>
                    <a:pt x="0" y="3101635"/>
                  </a:lnTo>
                  <a:close/>
                </a:path>
              </a:pathLst>
            </a:custGeom>
            <a:solidFill>
              <a:srgbClr val="DBE5EA"/>
            </a:solidFill>
          </p:spPr>
        </p:sp>
        <p:sp>
          <p:nvSpPr>
            <p:cNvPr name="TextBox 4" id="4"/>
            <p:cNvSpPr txBox="true"/>
            <p:nvPr/>
          </p:nvSpPr>
          <p:spPr>
            <a:xfrm>
              <a:off x="0" y="-123825"/>
              <a:ext cx="5107186" cy="3225460"/>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5086350" y="3437451"/>
            <a:ext cx="8115300" cy="2028825"/>
          </a:xfrm>
          <a:prstGeom prst="rect">
            <a:avLst/>
          </a:prstGeom>
        </p:spPr>
        <p:txBody>
          <a:bodyPr anchor="t" rtlCol="false" tIns="0" lIns="0" bIns="0" rIns="0">
            <a:spAutoFit/>
          </a:bodyPr>
          <a:lstStyle/>
          <a:p>
            <a:pPr algn="ctr">
              <a:lnSpc>
                <a:spcPts val="4079"/>
              </a:lnSpc>
            </a:pPr>
            <a:r>
              <a:rPr lang="en-US" sz="2400">
                <a:solidFill>
                  <a:srgbClr val="0F4662"/>
                </a:solidFill>
                <a:latin typeface="Quicksand"/>
                <a:ea typeface="Quicksand"/>
                <a:cs typeface="Quicksand"/>
                <a:sym typeface="Quicksand"/>
              </a:rPr>
              <a:t>-Handles incoming requests from the frontend</a:t>
            </a:r>
          </a:p>
          <a:p>
            <a:pPr algn="ctr">
              <a:lnSpc>
                <a:spcPts val="4079"/>
              </a:lnSpc>
            </a:pPr>
            <a:r>
              <a:rPr lang="en-US" sz="2400">
                <a:solidFill>
                  <a:srgbClr val="0F4662"/>
                </a:solidFill>
                <a:latin typeface="Quicksand"/>
                <a:ea typeface="Quicksand"/>
                <a:cs typeface="Quicksand"/>
                <a:sym typeface="Quicksand"/>
              </a:rPr>
              <a:t>-</a:t>
            </a:r>
            <a:r>
              <a:rPr lang="en-US" sz="2400">
                <a:solidFill>
                  <a:srgbClr val="0F4662"/>
                </a:solidFill>
                <a:latin typeface="Quicksand"/>
                <a:ea typeface="Quicksand"/>
                <a:cs typeface="Quicksand"/>
                <a:sym typeface="Quicksand"/>
              </a:rPr>
              <a:t>Communicates with our neural network model</a:t>
            </a:r>
          </a:p>
          <a:p>
            <a:pPr algn="ctr">
              <a:lnSpc>
                <a:spcPts val="4079"/>
              </a:lnSpc>
            </a:pPr>
            <a:r>
              <a:rPr lang="en-US" sz="2400">
                <a:solidFill>
                  <a:srgbClr val="0F4662"/>
                </a:solidFill>
                <a:latin typeface="Quicksand"/>
                <a:ea typeface="Quicksand"/>
                <a:cs typeface="Quicksand"/>
                <a:sym typeface="Quicksand"/>
              </a:rPr>
              <a:t>-</a:t>
            </a:r>
            <a:r>
              <a:rPr lang="en-US" sz="2400">
                <a:solidFill>
                  <a:srgbClr val="0F4662"/>
                </a:solidFill>
                <a:latin typeface="Quicksand"/>
                <a:ea typeface="Quicksand"/>
                <a:cs typeface="Quicksand"/>
                <a:sym typeface="Quicksand"/>
              </a:rPr>
              <a:t>Processes responses</a:t>
            </a:r>
          </a:p>
          <a:p>
            <a:pPr algn="ctr">
              <a:lnSpc>
                <a:spcPts val="4079"/>
              </a:lnSpc>
            </a:pPr>
            <a:r>
              <a:rPr lang="en-US" sz="2400">
                <a:solidFill>
                  <a:srgbClr val="0F4662"/>
                </a:solidFill>
                <a:latin typeface="Quicksand"/>
                <a:ea typeface="Quicksand"/>
                <a:cs typeface="Quicksand"/>
                <a:sym typeface="Quicksand"/>
              </a:rPr>
              <a:t>-</a:t>
            </a:r>
            <a:r>
              <a:rPr lang="en-US" sz="2400">
                <a:solidFill>
                  <a:srgbClr val="0F4662"/>
                </a:solidFill>
                <a:latin typeface="Quicksand"/>
                <a:ea typeface="Quicksand"/>
                <a:cs typeface="Quicksand"/>
                <a:sym typeface="Quicksand"/>
              </a:rPr>
              <a:t>Manages the API endpoints</a:t>
            </a:r>
          </a:p>
        </p:txBody>
      </p:sp>
      <p:sp>
        <p:nvSpPr>
          <p:cNvPr name="TextBox 6" id="6"/>
          <p:cNvSpPr txBox="true"/>
          <p:nvPr/>
        </p:nvSpPr>
        <p:spPr>
          <a:xfrm rot="0">
            <a:off x="3880122" y="2857036"/>
            <a:ext cx="10527757" cy="490855"/>
          </a:xfrm>
          <a:prstGeom prst="rect">
            <a:avLst/>
          </a:prstGeom>
        </p:spPr>
        <p:txBody>
          <a:bodyPr anchor="t" rtlCol="false" tIns="0" lIns="0" bIns="0" rIns="0">
            <a:spAutoFit/>
          </a:bodyPr>
          <a:lstStyle/>
          <a:p>
            <a:pPr algn="ctr" marL="0" indent="0" lvl="0">
              <a:lnSpc>
                <a:spcPts val="3919"/>
              </a:lnSpc>
              <a:spcBef>
                <a:spcPct val="0"/>
              </a:spcBef>
            </a:pPr>
            <a:r>
              <a:rPr lang="en-US" b="true" sz="2799">
                <a:solidFill>
                  <a:srgbClr val="0F4662"/>
                </a:solidFill>
                <a:latin typeface="Quicksand Bold"/>
                <a:ea typeface="Quicksand Bold"/>
                <a:cs typeface="Quicksand Bold"/>
                <a:sym typeface="Quicksand Bold"/>
              </a:rPr>
              <a:t>I implemented a Flask server that:</a:t>
            </a:r>
          </a:p>
        </p:txBody>
      </p:sp>
      <p:sp>
        <p:nvSpPr>
          <p:cNvPr name="TextBox 7" id="7"/>
          <p:cNvSpPr txBox="true"/>
          <p:nvPr/>
        </p:nvSpPr>
        <p:spPr>
          <a:xfrm rot="0">
            <a:off x="1028700" y="1391103"/>
            <a:ext cx="8970395" cy="854075"/>
          </a:xfrm>
          <a:prstGeom prst="rect">
            <a:avLst/>
          </a:prstGeom>
        </p:spPr>
        <p:txBody>
          <a:bodyPr anchor="t" rtlCol="false" tIns="0" lIns="0" bIns="0" rIns="0">
            <a:spAutoFit/>
          </a:bodyPr>
          <a:lstStyle/>
          <a:p>
            <a:pPr algn="l" marL="0" indent="0" lvl="0">
              <a:lnSpc>
                <a:spcPts val="7000"/>
              </a:lnSpc>
              <a:spcBef>
                <a:spcPct val="0"/>
              </a:spcBef>
            </a:pPr>
            <a:r>
              <a:rPr lang="en-US" b="true" sz="5000" i="true">
                <a:solidFill>
                  <a:srgbClr val="0F4662"/>
                </a:solidFill>
                <a:latin typeface="Cormorant Garamond Bold Italics"/>
                <a:ea typeface="Cormorant Garamond Bold Italics"/>
                <a:cs typeface="Cormorant Garamond Bold Italics"/>
                <a:sym typeface="Cormorant Garamond Bold Italics"/>
              </a:rPr>
              <a:t>Backend Development</a:t>
            </a:r>
          </a:p>
        </p:txBody>
      </p:sp>
      <p:sp>
        <p:nvSpPr>
          <p:cNvPr name="TextBox 8" id="8"/>
          <p:cNvSpPr txBox="true"/>
          <p:nvPr/>
        </p:nvSpPr>
        <p:spPr>
          <a:xfrm rot="0">
            <a:off x="4018040" y="6075876"/>
            <a:ext cx="10527757" cy="986155"/>
          </a:xfrm>
          <a:prstGeom prst="rect">
            <a:avLst/>
          </a:prstGeom>
        </p:spPr>
        <p:txBody>
          <a:bodyPr anchor="t" rtlCol="false" tIns="0" lIns="0" bIns="0" rIns="0">
            <a:spAutoFit/>
          </a:bodyPr>
          <a:lstStyle/>
          <a:p>
            <a:pPr algn="ctr" marL="0" indent="0" lvl="0">
              <a:lnSpc>
                <a:spcPts val="3919"/>
              </a:lnSpc>
              <a:spcBef>
                <a:spcPct val="0"/>
              </a:spcBef>
            </a:pPr>
            <a:r>
              <a:rPr lang="en-US" b="true" sz="2799">
                <a:solidFill>
                  <a:srgbClr val="0F4662"/>
                </a:solidFill>
                <a:latin typeface="Quicksand Bold"/>
                <a:ea typeface="Quicksand Bold"/>
                <a:cs typeface="Quicksand Bold"/>
                <a:sym typeface="Quicksand Bold"/>
              </a:rPr>
              <a:t>The server processes each message through two main endpoints:</a:t>
            </a:r>
          </a:p>
        </p:txBody>
      </p:sp>
      <p:sp>
        <p:nvSpPr>
          <p:cNvPr name="TextBox 9" id="9"/>
          <p:cNvSpPr txBox="true"/>
          <p:nvPr/>
        </p:nvSpPr>
        <p:spPr>
          <a:xfrm rot="0">
            <a:off x="4796721" y="7147756"/>
            <a:ext cx="8970395" cy="1000125"/>
          </a:xfrm>
          <a:prstGeom prst="rect">
            <a:avLst/>
          </a:prstGeom>
        </p:spPr>
        <p:txBody>
          <a:bodyPr anchor="t" rtlCol="false" tIns="0" lIns="0" bIns="0" rIns="0">
            <a:spAutoFit/>
          </a:bodyPr>
          <a:lstStyle/>
          <a:p>
            <a:pPr algn="ctr">
              <a:lnSpc>
                <a:spcPts val="4079"/>
              </a:lnSpc>
            </a:pPr>
            <a:r>
              <a:rPr lang="en-US" sz="2400">
                <a:solidFill>
                  <a:srgbClr val="0F4662"/>
                </a:solidFill>
                <a:latin typeface="Quicksand"/>
                <a:ea typeface="Quicksand"/>
                <a:cs typeface="Quicksand"/>
                <a:sym typeface="Quicksand"/>
              </a:rPr>
              <a:t>-A GET route for serving the chat interface</a:t>
            </a:r>
          </a:p>
          <a:p>
            <a:pPr algn="ctr">
              <a:lnSpc>
                <a:spcPts val="4079"/>
              </a:lnSpc>
            </a:pPr>
            <a:r>
              <a:rPr lang="en-US" sz="2400">
                <a:solidFill>
                  <a:srgbClr val="0F4662"/>
                </a:solidFill>
                <a:latin typeface="Quicksand"/>
                <a:ea typeface="Quicksand"/>
                <a:cs typeface="Quicksand"/>
                <a:sym typeface="Quicksand"/>
              </a:rPr>
              <a:t>-</a:t>
            </a:r>
            <a:r>
              <a:rPr lang="en-US" sz="2400">
                <a:solidFill>
                  <a:srgbClr val="0F4662"/>
                </a:solidFill>
                <a:latin typeface="Quicksand"/>
                <a:ea typeface="Quicksand"/>
                <a:cs typeface="Quicksand"/>
                <a:sym typeface="Quicksand"/>
              </a:rPr>
              <a:t>A POST route for handling message exchanges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413756" y="-634425"/>
            <a:ext cx="19391348" cy="11776520"/>
            <a:chOff x="0" y="0"/>
            <a:chExt cx="5107186" cy="3101635"/>
          </a:xfrm>
        </p:grpSpPr>
        <p:sp>
          <p:nvSpPr>
            <p:cNvPr name="Freeform 3" id="3"/>
            <p:cNvSpPr/>
            <p:nvPr/>
          </p:nvSpPr>
          <p:spPr>
            <a:xfrm flipH="false" flipV="false" rot="0">
              <a:off x="0" y="0"/>
              <a:ext cx="5107186" cy="3101635"/>
            </a:xfrm>
            <a:custGeom>
              <a:avLst/>
              <a:gdLst/>
              <a:ahLst/>
              <a:cxnLst/>
              <a:rect r="r" b="b" t="t" l="l"/>
              <a:pathLst>
                <a:path h="3101635" w="5107186">
                  <a:moveTo>
                    <a:pt x="0" y="0"/>
                  </a:moveTo>
                  <a:lnTo>
                    <a:pt x="5107186" y="0"/>
                  </a:lnTo>
                  <a:lnTo>
                    <a:pt x="5107186" y="3101635"/>
                  </a:lnTo>
                  <a:lnTo>
                    <a:pt x="0" y="3101635"/>
                  </a:lnTo>
                  <a:close/>
                </a:path>
              </a:pathLst>
            </a:custGeom>
            <a:solidFill>
              <a:srgbClr val="DBE5EA"/>
            </a:solidFill>
          </p:spPr>
        </p:sp>
        <p:sp>
          <p:nvSpPr>
            <p:cNvPr name="TextBox 4" id="4"/>
            <p:cNvSpPr txBox="true"/>
            <p:nvPr/>
          </p:nvSpPr>
          <p:spPr>
            <a:xfrm>
              <a:off x="0" y="-123825"/>
              <a:ext cx="5107186" cy="3225460"/>
            </a:xfrm>
            <a:prstGeom prst="rect">
              <a:avLst/>
            </a:prstGeom>
          </p:spPr>
          <p:txBody>
            <a:bodyPr anchor="ctr" rtlCol="false" tIns="50800" lIns="50800" bIns="50800" rIns="50800"/>
            <a:lstStyle/>
            <a:p>
              <a:pPr algn="ctr">
                <a:lnSpc>
                  <a:spcPts val="4079"/>
                </a:lnSpc>
              </a:pPr>
            </a:p>
          </p:txBody>
        </p:sp>
      </p:grpSp>
      <p:sp>
        <p:nvSpPr>
          <p:cNvPr name="Freeform 5" id="5"/>
          <p:cNvSpPr/>
          <p:nvPr/>
        </p:nvSpPr>
        <p:spPr>
          <a:xfrm flipH="false" flipV="false" rot="0">
            <a:off x="10917626" y="714009"/>
            <a:ext cx="5898523" cy="8804006"/>
          </a:xfrm>
          <a:custGeom>
            <a:avLst/>
            <a:gdLst/>
            <a:ahLst/>
            <a:cxnLst/>
            <a:rect r="r" b="b" t="t" l="l"/>
            <a:pathLst>
              <a:path h="8804006" w="5898523">
                <a:moveTo>
                  <a:pt x="0" y="0"/>
                </a:moveTo>
                <a:lnTo>
                  <a:pt x="5898523" y="0"/>
                </a:lnTo>
                <a:lnTo>
                  <a:pt x="5898523" y="8804006"/>
                </a:lnTo>
                <a:lnTo>
                  <a:pt x="0" y="8804006"/>
                </a:lnTo>
                <a:lnTo>
                  <a:pt x="0" y="0"/>
                </a:lnTo>
                <a:close/>
              </a:path>
            </a:pathLst>
          </a:custGeom>
          <a:blipFill>
            <a:blip r:embed="rId2"/>
            <a:stretch>
              <a:fillRect l="0" t="-4167" r="0" b="-1566"/>
            </a:stretch>
          </a:blipFill>
        </p:spPr>
      </p:sp>
      <p:sp>
        <p:nvSpPr>
          <p:cNvPr name="TextBox 6" id="6"/>
          <p:cNvSpPr txBox="true"/>
          <p:nvPr/>
        </p:nvSpPr>
        <p:spPr>
          <a:xfrm rot="0">
            <a:off x="1028700" y="5019675"/>
            <a:ext cx="7254656" cy="20288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Updates in real-time</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Maintains chat history</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Provides a smooth user experience</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Adapts to different screen sizes</a:t>
            </a:r>
          </a:p>
        </p:txBody>
      </p:sp>
      <p:sp>
        <p:nvSpPr>
          <p:cNvPr name="TextBox 7" id="7"/>
          <p:cNvSpPr txBox="true"/>
          <p:nvPr/>
        </p:nvSpPr>
        <p:spPr>
          <a:xfrm rot="0">
            <a:off x="1028700" y="3520076"/>
            <a:ext cx="8514146" cy="14814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The frontend was developed using HTML, CSS, and JavaScript, creating a responsive chat interface that:</a:t>
            </a:r>
          </a:p>
        </p:txBody>
      </p:sp>
      <p:sp>
        <p:nvSpPr>
          <p:cNvPr name="TextBox 8" id="8"/>
          <p:cNvSpPr txBox="true"/>
          <p:nvPr/>
        </p:nvSpPr>
        <p:spPr>
          <a:xfrm rot="0">
            <a:off x="1028700" y="2135863"/>
            <a:ext cx="8970395" cy="854075"/>
          </a:xfrm>
          <a:prstGeom prst="rect">
            <a:avLst/>
          </a:prstGeom>
        </p:spPr>
        <p:txBody>
          <a:bodyPr anchor="t" rtlCol="false" tIns="0" lIns="0" bIns="0" rIns="0">
            <a:spAutoFit/>
          </a:bodyPr>
          <a:lstStyle/>
          <a:p>
            <a:pPr algn="l" marL="0" indent="0" lvl="0">
              <a:lnSpc>
                <a:spcPts val="7000"/>
              </a:lnSpc>
              <a:spcBef>
                <a:spcPct val="0"/>
              </a:spcBef>
            </a:pPr>
            <a:r>
              <a:rPr lang="en-US" b="true" sz="5000" i="true">
                <a:solidFill>
                  <a:srgbClr val="0F4662"/>
                </a:solidFill>
                <a:latin typeface="Cormorant Garamond Bold Italics"/>
                <a:ea typeface="Cormorant Garamond Bold Italics"/>
                <a:cs typeface="Cormorant Garamond Bold Italics"/>
                <a:sym typeface="Cormorant Garamond Bold Italics"/>
              </a:rPr>
              <a:t>Frontend Integration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2107968" y="4543742"/>
            <a:ext cx="14072064" cy="1085215"/>
          </a:xfrm>
          <a:prstGeom prst="rect">
            <a:avLst/>
          </a:prstGeom>
        </p:spPr>
        <p:txBody>
          <a:bodyPr anchor="t" rtlCol="false" tIns="0" lIns="0" bIns="0" rIns="0">
            <a:spAutoFit/>
          </a:bodyPr>
          <a:lstStyle/>
          <a:p>
            <a:pPr algn="ctr"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4 . Technical Demonstration</a:t>
            </a:r>
          </a:p>
        </p:txBody>
      </p:sp>
      <p:sp>
        <p:nvSpPr>
          <p:cNvPr name="Freeform 3" id="3"/>
          <p:cNvSpPr/>
          <p:nvPr/>
        </p:nvSpPr>
        <p:spPr>
          <a:xfrm flipH="false" flipV="false" rot="0">
            <a:off x="15579303" y="714009"/>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4384" y="9529723"/>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3442710" y="3369664"/>
            <a:ext cx="11402580"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0F4662"/>
                </a:solidFill>
                <a:latin typeface="Cormorant Garamond Bold Italics"/>
                <a:ea typeface="Cormorant Garamond Bold Italics"/>
                <a:cs typeface="Cormorant Garamond Bold Italics"/>
                <a:sym typeface="Cormorant Garamond Bold Italics"/>
              </a:rPr>
              <a:t>Thank you</a:t>
            </a:r>
          </a:p>
        </p:txBody>
      </p:sp>
      <p:sp>
        <p:nvSpPr>
          <p:cNvPr name="AutoShape 3" id="3"/>
          <p:cNvSpPr/>
          <p:nvPr/>
        </p:nvSpPr>
        <p:spPr>
          <a:xfrm>
            <a:off x="5897880" y="2215083"/>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116666"/>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5897880" y="8159883"/>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90084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DAGce5UgAD8</dc:identifier>
  <dcterms:modified xsi:type="dcterms:W3CDTF">2011-08-01T06:04:30Z</dcterms:modified>
  <cp:revision>1</cp:revision>
  <dc:title>White Blue Simple Modern Enhancing Sales Strategy Presentation</dc:title>
</cp:coreProperties>
</file>